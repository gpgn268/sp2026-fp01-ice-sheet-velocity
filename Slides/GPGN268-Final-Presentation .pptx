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handoutMasterIdLst>
    <p:handoutMasterId r:id="rId16"/>
  </p:handoutMasterIdLst>
  <p:sldIdLst>
    <p:sldId id="262" r:id="rId2"/>
    <p:sldId id="312" r:id="rId3"/>
    <p:sldId id="300" r:id="rId4"/>
    <p:sldId id="309" r:id="rId5"/>
    <p:sldId id="321" r:id="rId6"/>
    <p:sldId id="314" r:id="rId7"/>
    <p:sldId id="305" r:id="rId8"/>
    <p:sldId id="316" r:id="rId9"/>
    <p:sldId id="315" r:id="rId10"/>
    <p:sldId id="317" r:id="rId11"/>
    <p:sldId id="318" r:id="rId12"/>
    <p:sldId id="319" r:id="rId13"/>
    <p:sldId id="32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4628"/>
    <a:srgbClr val="21314D"/>
    <a:srgbClr val="92A2BD"/>
    <a:srgbClr val="CED5DD"/>
    <a:srgbClr val="263F6A"/>
    <a:srgbClr val="8B8D8E"/>
    <a:srgbClr val="B2B4B3"/>
    <a:srgbClr val="DD5F36"/>
    <a:srgbClr val="D249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E2FFDC-9948-4D45-80B4-D7563E944A0B}" v="28" dt="2026-05-01T16:23:36.7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535"/>
    <p:restoredTop sz="82921"/>
  </p:normalViewPr>
  <p:slideViewPr>
    <p:cSldViewPr snapToGrid="0" snapToObjects="1">
      <p:cViewPr varScale="1">
        <p:scale>
          <a:sx n="91" d="100"/>
          <a:sy n="91" d="100"/>
        </p:scale>
        <p:origin x="1280" y="60"/>
      </p:cViewPr>
      <p:guideLst/>
    </p:cSldViewPr>
  </p:slideViewPr>
  <p:notesTextViewPr>
    <p:cViewPr>
      <p:scale>
        <a:sx n="100" d="100"/>
        <a:sy n="100" d="100"/>
      </p:scale>
      <p:origin x="0" y="0"/>
    </p:cViewPr>
  </p:notesTextViewPr>
  <p:sorterViewPr>
    <p:cViewPr>
      <p:scale>
        <a:sx n="80" d="100"/>
        <a:sy n="80" d="100"/>
      </p:scale>
      <p:origin x="0" y="0"/>
    </p:cViewPr>
  </p:sorterViewPr>
  <p:notesViewPr>
    <p:cSldViewPr snapToGrid="0" snapToObjects="1" showGuides="1">
      <p:cViewPr varScale="1">
        <p:scale>
          <a:sx n="168" d="100"/>
          <a:sy n="168" d="100"/>
        </p:scale>
        <p:origin x="3688" y="2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itlyn Sanchez" userId="f90c757d64000272" providerId="LiveId" clId="{12FC0063-CB00-4DE9-8420-EDC7A485C72F}"/>
    <pc:docChg chg="undo custSel addSld delSld modSld sldOrd">
      <pc:chgData name="Kaitlyn Sanchez" userId="f90c757d64000272" providerId="LiveId" clId="{12FC0063-CB00-4DE9-8420-EDC7A485C72F}" dt="2026-05-01T18:36:25.892" v="10948" actId="1076"/>
      <pc:docMkLst>
        <pc:docMk/>
      </pc:docMkLst>
      <pc:sldChg chg="modSp mod">
        <pc:chgData name="Kaitlyn Sanchez" userId="f90c757d64000272" providerId="LiveId" clId="{12FC0063-CB00-4DE9-8420-EDC7A485C72F}" dt="2026-04-27T20:20:16.489" v="100" actId="20577"/>
        <pc:sldMkLst>
          <pc:docMk/>
          <pc:sldMk cId="2018888763" sldId="262"/>
        </pc:sldMkLst>
        <pc:spChg chg="mod">
          <ac:chgData name="Kaitlyn Sanchez" userId="f90c757d64000272" providerId="LiveId" clId="{12FC0063-CB00-4DE9-8420-EDC7A485C72F}" dt="2026-04-27T20:19:16.234" v="44" actId="20577"/>
          <ac:spMkLst>
            <pc:docMk/>
            <pc:sldMk cId="2018888763" sldId="262"/>
            <ac:spMk id="2" creationId="{00000000-0000-0000-0000-000000000000}"/>
          </ac:spMkLst>
        </pc:spChg>
        <pc:spChg chg="mod">
          <ac:chgData name="Kaitlyn Sanchez" userId="f90c757d64000272" providerId="LiveId" clId="{12FC0063-CB00-4DE9-8420-EDC7A485C72F}" dt="2026-04-27T20:20:16.489" v="100" actId="20577"/>
          <ac:spMkLst>
            <pc:docMk/>
            <pc:sldMk cId="2018888763" sldId="262"/>
            <ac:spMk id="3" creationId="{00000000-0000-0000-0000-000000000000}"/>
          </ac:spMkLst>
        </pc:spChg>
      </pc:sldChg>
      <pc:sldChg chg="addSp delSp modSp mod modNotesTx">
        <pc:chgData name="Kaitlyn Sanchez" userId="f90c757d64000272" providerId="LiveId" clId="{12FC0063-CB00-4DE9-8420-EDC7A485C72F}" dt="2026-04-27T21:42:59.124" v="1565" actId="255"/>
        <pc:sldMkLst>
          <pc:docMk/>
          <pc:sldMk cId="3497227369" sldId="300"/>
        </pc:sldMkLst>
        <pc:spChg chg="mod">
          <ac:chgData name="Kaitlyn Sanchez" userId="f90c757d64000272" providerId="LiveId" clId="{12FC0063-CB00-4DE9-8420-EDC7A485C72F}" dt="2026-04-27T21:41:46.197" v="1555" actId="20577"/>
          <ac:spMkLst>
            <pc:docMk/>
            <pc:sldMk cId="3497227369" sldId="300"/>
            <ac:spMk id="2" creationId="{CE1B8232-8B55-A36B-A924-C8B86E1BA15D}"/>
          </ac:spMkLst>
        </pc:spChg>
        <pc:spChg chg="mod">
          <ac:chgData name="Kaitlyn Sanchez" userId="f90c757d64000272" providerId="LiveId" clId="{12FC0063-CB00-4DE9-8420-EDC7A485C72F}" dt="2026-04-27T21:42:59.124" v="1565" actId="255"/>
          <ac:spMkLst>
            <pc:docMk/>
            <pc:sldMk cId="3497227369" sldId="300"/>
            <ac:spMk id="5" creationId="{FF0C7B49-9898-7081-623F-B1F013AE43A1}"/>
          </ac:spMkLst>
        </pc:spChg>
      </pc:sldChg>
      <pc:sldChg chg="addSp delSp modSp mod modClrScheme chgLayout modNotesTx">
        <pc:chgData name="Kaitlyn Sanchez" userId="f90c757d64000272" providerId="LiveId" clId="{12FC0063-CB00-4DE9-8420-EDC7A485C72F}" dt="2026-05-01T18:35:06.565" v="10929" actId="1076"/>
        <pc:sldMkLst>
          <pc:docMk/>
          <pc:sldMk cId="399741290" sldId="305"/>
        </pc:sldMkLst>
        <pc:spChg chg="mod">
          <ac:chgData name="Kaitlyn Sanchez" userId="f90c757d64000272" providerId="LiveId" clId="{12FC0063-CB00-4DE9-8420-EDC7A485C72F}" dt="2026-05-01T16:20:37.890" v="8544" actId="20577"/>
          <ac:spMkLst>
            <pc:docMk/>
            <pc:sldMk cId="399741290" sldId="305"/>
            <ac:spMk id="2" creationId="{10392118-8A58-67A3-EE27-D05371CB87E8}"/>
          </ac:spMkLst>
        </pc:spChg>
        <pc:spChg chg="mod ord">
          <ac:chgData name="Kaitlyn Sanchez" userId="f90c757d64000272" providerId="LiveId" clId="{12FC0063-CB00-4DE9-8420-EDC7A485C72F}" dt="2026-05-01T18:35:06.565" v="10929" actId="1076"/>
          <ac:spMkLst>
            <pc:docMk/>
            <pc:sldMk cId="399741290" sldId="305"/>
            <ac:spMk id="3" creationId="{A5BD736C-D35D-F513-AA9D-42B46105A5F0}"/>
          </ac:spMkLst>
        </pc:spChg>
        <pc:picChg chg="add mod">
          <ac:chgData name="Kaitlyn Sanchez" userId="f90c757d64000272" providerId="LiveId" clId="{12FC0063-CB00-4DE9-8420-EDC7A485C72F}" dt="2026-05-01T16:20:33.214" v="8536" actId="26606"/>
          <ac:picMkLst>
            <pc:docMk/>
            <pc:sldMk cId="399741290" sldId="305"/>
            <ac:picMk id="5" creationId="{3E2D4CDE-5E85-A07B-317F-DB56EFD36427}"/>
          </ac:picMkLst>
        </pc:picChg>
      </pc:sldChg>
      <pc:sldChg chg="modSp mod modNotesTx">
        <pc:chgData name="Kaitlyn Sanchez" userId="f90c757d64000272" providerId="LiveId" clId="{12FC0063-CB00-4DE9-8420-EDC7A485C72F}" dt="2026-05-01T16:18:11.663" v="8534" actId="1076"/>
        <pc:sldMkLst>
          <pc:docMk/>
          <pc:sldMk cId="3646926796" sldId="309"/>
        </pc:sldMkLst>
        <pc:spChg chg="mod">
          <ac:chgData name="Kaitlyn Sanchez" userId="f90c757d64000272" providerId="LiveId" clId="{12FC0063-CB00-4DE9-8420-EDC7A485C72F}" dt="2026-05-01T16:18:11.663" v="8534" actId="1076"/>
          <ac:spMkLst>
            <pc:docMk/>
            <pc:sldMk cId="3646926796" sldId="309"/>
            <ac:spMk id="2" creationId="{9FDF6415-7F68-7621-ABFB-FF984732ADA0}"/>
          </ac:spMkLst>
        </pc:spChg>
        <pc:spChg chg="mod">
          <ac:chgData name="Kaitlyn Sanchez" userId="f90c757d64000272" providerId="LiveId" clId="{12FC0063-CB00-4DE9-8420-EDC7A485C72F}" dt="2026-05-01T16:18:00.729" v="8532" actId="1076"/>
          <ac:spMkLst>
            <pc:docMk/>
            <pc:sldMk cId="3646926796" sldId="309"/>
            <ac:spMk id="4" creationId="{56CB2EE3-5DBC-645D-3283-5627ECC38890}"/>
          </ac:spMkLst>
        </pc:spChg>
      </pc:sldChg>
      <pc:sldChg chg="modSp mod ord modNotesTx">
        <pc:chgData name="Kaitlyn Sanchez" userId="f90c757d64000272" providerId="LiveId" clId="{12FC0063-CB00-4DE9-8420-EDC7A485C72F}" dt="2026-05-01T18:19:31.092" v="10038" actId="1076"/>
        <pc:sldMkLst>
          <pc:docMk/>
          <pc:sldMk cId="1710442234" sldId="312"/>
        </pc:sldMkLst>
        <pc:spChg chg="mod">
          <ac:chgData name="Kaitlyn Sanchez" userId="f90c757d64000272" providerId="LiveId" clId="{12FC0063-CB00-4DE9-8420-EDC7A485C72F}" dt="2026-04-27T21:26:14.187" v="436" actId="20577"/>
          <ac:spMkLst>
            <pc:docMk/>
            <pc:sldMk cId="1710442234" sldId="312"/>
            <ac:spMk id="2" creationId="{A2254878-DD2A-7934-A3A9-8DB6E3A0101D}"/>
          </ac:spMkLst>
        </pc:spChg>
        <pc:spChg chg="mod">
          <ac:chgData name="Kaitlyn Sanchez" userId="f90c757d64000272" providerId="LiveId" clId="{12FC0063-CB00-4DE9-8420-EDC7A485C72F}" dt="2026-05-01T18:19:31.092" v="10038" actId="1076"/>
          <ac:spMkLst>
            <pc:docMk/>
            <pc:sldMk cId="1710442234" sldId="312"/>
            <ac:spMk id="5" creationId="{D9CCE0F1-F300-F2C4-1C3A-FC528CE415DE}"/>
          </ac:spMkLst>
        </pc:spChg>
      </pc:sldChg>
      <pc:sldChg chg="addSp delSp modSp add mod ord">
        <pc:chgData name="Kaitlyn Sanchez" userId="f90c757d64000272" providerId="LiveId" clId="{12FC0063-CB00-4DE9-8420-EDC7A485C72F}" dt="2026-05-01T16:23:15.561" v="8571"/>
        <pc:sldMkLst>
          <pc:docMk/>
          <pc:sldMk cId="2259316041" sldId="314"/>
        </pc:sldMkLst>
        <pc:spChg chg="del mod">
          <ac:chgData name="Kaitlyn Sanchez" userId="f90c757d64000272" providerId="LiveId" clId="{12FC0063-CB00-4DE9-8420-EDC7A485C72F}" dt="2026-05-01T16:22:59.756" v="8566" actId="478"/>
          <ac:spMkLst>
            <pc:docMk/>
            <pc:sldMk cId="2259316041" sldId="314"/>
            <ac:spMk id="2" creationId="{438B4220-21E1-BD86-D869-4AD280D5B09D}"/>
          </ac:spMkLst>
        </pc:spChg>
        <pc:spChg chg="add mod">
          <ac:chgData name="Kaitlyn Sanchez" userId="f90c757d64000272" providerId="LiveId" clId="{12FC0063-CB00-4DE9-8420-EDC7A485C72F}" dt="2026-05-01T16:23:02.480" v="8567" actId="20577"/>
          <ac:spMkLst>
            <pc:docMk/>
            <pc:sldMk cId="2259316041" sldId="314"/>
            <ac:spMk id="7" creationId="{98B6D967-8D9F-7482-A255-BC51CE5B3AC7}"/>
          </ac:spMkLst>
        </pc:spChg>
        <pc:picChg chg="add mod">
          <ac:chgData name="Kaitlyn Sanchez" userId="f90c757d64000272" providerId="LiveId" clId="{12FC0063-CB00-4DE9-8420-EDC7A485C72F}" dt="2026-05-01T16:23:12.759" v="8569" actId="1076"/>
          <ac:picMkLst>
            <pc:docMk/>
            <pc:sldMk cId="2259316041" sldId="314"/>
            <ac:picMk id="5" creationId="{80B39F10-2198-C830-9B75-23E9AA4278E7}"/>
          </ac:picMkLst>
        </pc:picChg>
      </pc:sldChg>
      <pc:sldChg chg="addSp modSp add mod modNotesTx">
        <pc:chgData name="Kaitlyn Sanchez" userId="f90c757d64000272" providerId="LiveId" clId="{12FC0063-CB00-4DE9-8420-EDC7A485C72F}" dt="2026-05-01T18:36:02.143" v="10944" actId="1076"/>
        <pc:sldMkLst>
          <pc:docMk/>
          <pc:sldMk cId="2970796851" sldId="315"/>
        </pc:sldMkLst>
        <pc:spChg chg="mod">
          <ac:chgData name="Kaitlyn Sanchez" userId="f90c757d64000272" providerId="LiveId" clId="{12FC0063-CB00-4DE9-8420-EDC7A485C72F}" dt="2026-05-01T18:35:51.344" v="10942" actId="20577"/>
          <ac:spMkLst>
            <pc:docMk/>
            <pc:sldMk cId="2970796851" sldId="315"/>
            <ac:spMk id="2" creationId="{DAD41AAC-004B-29F4-E50E-8E2253B31E9A}"/>
          </ac:spMkLst>
        </pc:spChg>
        <pc:picChg chg="add mod">
          <ac:chgData name="Kaitlyn Sanchez" userId="f90c757d64000272" providerId="LiveId" clId="{12FC0063-CB00-4DE9-8420-EDC7A485C72F}" dt="2026-05-01T18:36:02.143" v="10944" actId="1076"/>
          <ac:picMkLst>
            <pc:docMk/>
            <pc:sldMk cId="2970796851" sldId="315"/>
            <ac:picMk id="5" creationId="{D01F786E-D324-59F5-BC02-841D96D2BFFC}"/>
          </ac:picMkLst>
        </pc:picChg>
      </pc:sldChg>
      <pc:sldChg chg="addSp modSp add mod ord modNotesTx">
        <pc:chgData name="Kaitlyn Sanchez" userId="f90c757d64000272" providerId="LiveId" clId="{12FC0063-CB00-4DE9-8420-EDC7A485C72F}" dt="2026-05-01T18:35:42.219" v="10933" actId="1076"/>
        <pc:sldMkLst>
          <pc:docMk/>
          <pc:sldMk cId="1127110154" sldId="316"/>
        </pc:sldMkLst>
        <pc:spChg chg="mod">
          <ac:chgData name="Kaitlyn Sanchez" userId="f90c757d64000272" providerId="LiveId" clId="{12FC0063-CB00-4DE9-8420-EDC7A485C72F}" dt="2026-05-01T18:35:34.477" v="10931" actId="20577"/>
          <ac:spMkLst>
            <pc:docMk/>
            <pc:sldMk cId="1127110154" sldId="316"/>
            <ac:spMk id="2" creationId="{53D645DD-3381-98D9-3F31-67AB31F4CDB6}"/>
          </ac:spMkLst>
        </pc:spChg>
        <pc:picChg chg="add mod">
          <ac:chgData name="Kaitlyn Sanchez" userId="f90c757d64000272" providerId="LiveId" clId="{12FC0063-CB00-4DE9-8420-EDC7A485C72F}" dt="2026-05-01T18:35:42.219" v="10933" actId="1076"/>
          <ac:picMkLst>
            <pc:docMk/>
            <pc:sldMk cId="1127110154" sldId="316"/>
            <ac:picMk id="5" creationId="{C98048BC-5624-03B7-A755-39B1678087AC}"/>
          </ac:picMkLst>
        </pc:picChg>
      </pc:sldChg>
      <pc:sldChg chg="addSp modSp add mod modNotesTx">
        <pc:chgData name="Kaitlyn Sanchez" userId="f90c757d64000272" providerId="LiveId" clId="{12FC0063-CB00-4DE9-8420-EDC7A485C72F}" dt="2026-05-01T18:36:25.892" v="10948" actId="1076"/>
        <pc:sldMkLst>
          <pc:docMk/>
          <pc:sldMk cId="4241533850" sldId="317"/>
        </pc:sldMkLst>
        <pc:spChg chg="mod">
          <ac:chgData name="Kaitlyn Sanchez" userId="f90c757d64000272" providerId="LiveId" clId="{12FC0063-CB00-4DE9-8420-EDC7A485C72F}" dt="2026-05-01T18:36:09.814" v="10946" actId="20577"/>
          <ac:spMkLst>
            <pc:docMk/>
            <pc:sldMk cId="4241533850" sldId="317"/>
            <ac:spMk id="2" creationId="{317722CB-A808-6E40-CFF3-C4F6602A3263}"/>
          </ac:spMkLst>
        </pc:spChg>
        <pc:picChg chg="add mod">
          <ac:chgData name="Kaitlyn Sanchez" userId="f90c757d64000272" providerId="LiveId" clId="{12FC0063-CB00-4DE9-8420-EDC7A485C72F}" dt="2026-05-01T18:36:25.892" v="10948" actId="1076"/>
          <ac:picMkLst>
            <pc:docMk/>
            <pc:sldMk cId="4241533850" sldId="317"/>
            <ac:picMk id="5" creationId="{6CF4B665-4960-D249-843D-B8EB021DBE87}"/>
          </ac:picMkLst>
        </pc:picChg>
      </pc:sldChg>
      <pc:sldChg chg="addSp modSp add mod modNotesTx">
        <pc:chgData name="Kaitlyn Sanchez" userId="f90c757d64000272" providerId="LiveId" clId="{12FC0063-CB00-4DE9-8420-EDC7A485C72F}" dt="2026-05-01T16:16:09.830" v="8531" actId="20577"/>
        <pc:sldMkLst>
          <pc:docMk/>
          <pc:sldMk cId="2762803542" sldId="318"/>
        </pc:sldMkLst>
        <pc:spChg chg="mod">
          <ac:chgData name="Kaitlyn Sanchez" userId="f90c757d64000272" providerId="LiveId" clId="{12FC0063-CB00-4DE9-8420-EDC7A485C72F}" dt="2026-04-27T21:23:50.988" v="302" actId="20577"/>
          <ac:spMkLst>
            <pc:docMk/>
            <pc:sldMk cId="2762803542" sldId="318"/>
            <ac:spMk id="2" creationId="{98CEFC48-6302-33B5-A5EE-F95FA67E95A3}"/>
          </ac:spMkLst>
        </pc:spChg>
        <pc:spChg chg="add mod">
          <ac:chgData name="Kaitlyn Sanchez" userId="f90c757d64000272" providerId="LiveId" clId="{12FC0063-CB00-4DE9-8420-EDC7A485C72F}" dt="2026-04-29T21:31:31.445" v="6414" actId="1076"/>
          <ac:spMkLst>
            <pc:docMk/>
            <pc:sldMk cId="2762803542" sldId="318"/>
            <ac:spMk id="5" creationId="{2FBC50EE-0204-0458-02AB-773332909CF6}"/>
          </ac:spMkLst>
        </pc:spChg>
        <pc:picChg chg="add mod">
          <ac:chgData name="Kaitlyn Sanchez" userId="f90c757d64000272" providerId="LiveId" clId="{12FC0063-CB00-4DE9-8420-EDC7A485C72F}" dt="2026-04-29T21:31:06.337" v="6404" actId="1076"/>
          <ac:picMkLst>
            <pc:docMk/>
            <pc:sldMk cId="2762803542" sldId="318"/>
            <ac:picMk id="7" creationId="{D48BD342-1CBA-D537-F658-92C3C360B781}"/>
          </ac:picMkLst>
        </pc:picChg>
      </pc:sldChg>
      <pc:sldChg chg="addSp modSp add mod modNotesTx">
        <pc:chgData name="Kaitlyn Sanchez" userId="f90c757d64000272" providerId="LiveId" clId="{12FC0063-CB00-4DE9-8420-EDC7A485C72F}" dt="2026-05-01T00:46:46.716" v="7757" actId="1076"/>
        <pc:sldMkLst>
          <pc:docMk/>
          <pc:sldMk cId="925585372" sldId="319"/>
        </pc:sldMkLst>
        <pc:spChg chg="mod">
          <ac:chgData name="Kaitlyn Sanchez" userId="f90c757d64000272" providerId="LiveId" clId="{12FC0063-CB00-4DE9-8420-EDC7A485C72F}" dt="2026-04-27T21:24:23.836" v="337" actId="20577"/>
          <ac:spMkLst>
            <pc:docMk/>
            <pc:sldMk cId="925585372" sldId="319"/>
            <ac:spMk id="2" creationId="{4DC96313-C4D5-8855-10D2-D4E4F4DD93A3}"/>
          </ac:spMkLst>
        </pc:spChg>
        <pc:spChg chg="add mod">
          <ac:chgData name="Kaitlyn Sanchez" userId="f90c757d64000272" providerId="LiveId" clId="{12FC0063-CB00-4DE9-8420-EDC7A485C72F}" dt="2026-05-01T00:46:46.716" v="7757" actId="1076"/>
          <ac:spMkLst>
            <pc:docMk/>
            <pc:sldMk cId="925585372" sldId="319"/>
            <ac:spMk id="5" creationId="{A892A147-186E-A405-6C36-6C97D871B795}"/>
          </ac:spMkLst>
        </pc:spChg>
        <pc:spChg chg="add mod">
          <ac:chgData name="Kaitlyn Sanchez" userId="f90c757d64000272" providerId="LiveId" clId="{12FC0063-CB00-4DE9-8420-EDC7A485C72F}" dt="2026-05-01T00:42:21.627" v="7672" actId="1076"/>
          <ac:spMkLst>
            <pc:docMk/>
            <pc:sldMk cId="925585372" sldId="319"/>
            <ac:spMk id="7" creationId="{E210E144-9607-2F66-F314-6A789FE60E31}"/>
          </ac:spMkLst>
        </pc:spChg>
      </pc:sldChg>
      <pc:sldChg chg="addSp modSp add mod modNotesTx">
        <pc:chgData name="Kaitlyn Sanchez" userId="f90c757d64000272" providerId="LiveId" clId="{12FC0063-CB00-4DE9-8420-EDC7A485C72F}" dt="2026-05-01T16:15:59.470" v="8522" actId="20577"/>
        <pc:sldMkLst>
          <pc:docMk/>
          <pc:sldMk cId="2017053696" sldId="320"/>
        </pc:sldMkLst>
        <pc:spChg chg="mod">
          <ac:chgData name="Kaitlyn Sanchez" userId="f90c757d64000272" providerId="LiveId" clId="{12FC0063-CB00-4DE9-8420-EDC7A485C72F}" dt="2026-04-29T21:31:58.180" v="6416" actId="1076"/>
          <ac:spMkLst>
            <pc:docMk/>
            <pc:sldMk cId="2017053696" sldId="320"/>
            <ac:spMk id="2" creationId="{D7692F55-B777-C0BD-51A5-DD47525476E8}"/>
          </ac:spMkLst>
        </pc:spChg>
        <pc:spChg chg="add mod">
          <ac:chgData name="Kaitlyn Sanchez" userId="f90c757d64000272" providerId="LiveId" clId="{12FC0063-CB00-4DE9-8420-EDC7A485C72F}" dt="2026-04-29T21:43:10.297" v="6429" actId="1076"/>
          <ac:spMkLst>
            <pc:docMk/>
            <pc:sldMk cId="2017053696" sldId="320"/>
            <ac:spMk id="5" creationId="{E85D0AD1-C58B-551B-6F69-06D942344262}"/>
          </ac:spMkLst>
        </pc:spChg>
        <pc:picChg chg="add mod">
          <ac:chgData name="Kaitlyn Sanchez" userId="f90c757d64000272" providerId="LiveId" clId="{12FC0063-CB00-4DE9-8420-EDC7A485C72F}" dt="2026-05-01T00:59:28.368" v="8429" actId="14100"/>
          <ac:picMkLst>
            <pc:docMk/>
            <pc:sldMk cId="2017053696" sldId="320"/>
            <ac:picMk id="1026" creationId="{238C51C5-46CD-E7DB-7C09-F0B576F874DF}"/>
          </ac:picMkLst>
        </pc:picChg>
        <pc:picChg chg="add mod">
          <ac:chgData name="Kaitlyn Sanchez" userId="f90c757d64000272" providerId="LiveId" clId="{12FC0063-CB00-4DE9-8420-EDC7A485C72F}" dt="2026-05-01T00:59:54.575" v="8433" actId="1076"/>
          <ac:picMkLst>
            <pc:docMk/>
            <pc:sldMk cId="2017053696" sldId="320"/>
            <ac:picMk id="1028" creationId="{4EF4F56F-B624-FBD8-0D7D-55CA2535B4BA}"/>
          </ac:picMkLst>
        </pc:picChg>
      </pc:sldChg>
      <pc:sldChg chg="addSp modSp add mod modNotesTx">
        <pc:chgData name="Kaitlyn Sanchez" userId="f90c757d64000272" providerId="LiveId" clId="{12FC0063-CB00-4DE9-8420-EDC7A485C72F}" dt="2026-05-01T18:29:54.876" v="10395" actId="1076"/>
        <pc:sldMkLst>
          <pc:docMk/>
          <pc:sldMk cId="3915552741" sldId="321"/>
        </pc:sldMkLst>
        <pc:spChg chg="mod">
          <ac:chgData name="Kaitlyn Sanchez" userId="f90c757d64000272" providerId="LiveId" clId="{12FC0063-CB00-4DE9-8420-EDC7A485C72F}" dt="2026-05-01T18:29:54.876" v="10395" actId="1076"/>
          <ac:spMkLst>
            <pc:docMk/>
            <pc:sldMk cId="3915552741" sldId="321"/>
            <ac:spMk id="2" creationId="{70D15105-DFEA-3AB4-BE1C-9FCBFF972612}"/>
          </ac:spMkLst>
        </pc:spChg>
        <pc:spChg chg="mod">
          <ac:chgData name="Kaitlyn Sanchez" userId="f90c757d64000272" providerId="LiveId" clId="{12FC0063-CB00-4DE9-8420-EDC7A485C72F}" dt="2026-05-01T00:54:16.487" v="8427" actId="20577"/>
          <ac:spMkLst>
            <pc:docMk/>
            <pc:sldMk cId="3915552741" sldId="321"/>
            <ac:spMk id="4" creationId="{979B8C9D-6549-C16B-339A-97140AC51B65}"/>
          </ac:spMkLst>
        </pc:spChg>
        <pc:spChg chg="add mod">
          <ac:chgData name="Kaitlyn Sanchez" userId="f90c757d64000272" providerId="LiveId" clId="{12FC0063-CB00-4DE9-8420-EDC7A485C72F}" dt="2026-05-01T00:54:22.570" v="8428" actId="14100"/>
          <ac:spMkLst>
            <pc:docMk/>
            <pc:sldMk cId="3915552741" sldId="321"/>
            <ac:spMk id="6" creationId="{8A6CDEA6-61F9-4D2C-59AD-1E6170CAC670}"/>
          </ac:spMkLst>
        </pc:spChg>
      </pc:sldChg>
      <pc:sldChg chg="addSp delSp modSp add del mod">
        <pc:chgData name="Kaitlyn Sanchez" userId="f90c757d64000272" providerId="LiveId" clId="{12FC0063-CB00-4DE9-8420-EDC7A485C72F}" dt="2026-05-01T16:22:47.021" v="8564" actId="2696"/>
        <pc:sldMkLst>
          <pc:docMk/>
          <pc:sldMk cId="3958177879" sldId="322"/>
        </pc:sldMkLst>
        <pc:spChg chg="del">
          <ac:chgData name="Kaitlyn Sanchez" userId="f90c757d64000272" providerId="LiveId" clId="{12FC0063-CB00-4DE9-8420-EDC7A485C72F}" dt="2026-05-01T16:22:29.862" v="8560" actId="478"/>
          <ac:spMkLst>
            <pc:docMk/>
            <pc:sldMk cId="3958177879" sldId="322"/>
            <ac:spMk id="4" creationId="{732139A0-3E46-16AC-CC89-289D3063A58D}"/>
          </ac:spMkLst>
        </pc:spChg>
        <pc:spChg chg="del">
          <ac:chgData name="Kaitlyn Sanchez" userId="f90c757d64000272" providerId="LiveId" clId="{12FC0063-CB00-4DE9-8420-EDC7A485C72F}" dt="2026-05-01T16:22:31.885" v="8561" actId="478"/>
          <ac:spMkLst>
            <pc:docMk/>
            <pc:sldMk cId="3958177879" sldId="322"/>
            <ac:spMk id="6" creationId="{8BA65E22-1616-B849-B72D-404141A8FFE2}"/>
          </ac:spMkLst>
        </pc:spChg>
        <pc:picChg chg="add mod">
          <ac:chgData name="Kaitlyn Sanchez" userId="f90c757d64000272" providerId="LiveId" clId="{12FC0063-CB00-4DE9-8420-EDC7A485C72F}" dt="2026-05-01T16:22:41.778" v="8563" actId="14100"/>
          <ac:picMkLst>
            <pc:docMk/>
            <pc:sldMk cId="3958177879" sldId="322"/>
            <ac:picMk id="5" creationId="{2E1B253D-3D67-737F-2624-AF62D9EDF4EC}"/>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4DD5C9C-88A3-CA43-B162-DCC4E1E4BE7D}" type="datetimeFigureOut">
              <a:rPr lang="en-US" smtClean="0"/>
              <a:t>5/1/2026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B5FE5E8-0999-F94A-9937-3F8545B10484}" type="slidenum">
              <a:rPr lang="en-US" smtClean="0"/>
              <a:t>‹#›</a:t>
            </a:fld>
            <a:endParaRPr lang="en-US"/>
          </a:p>
        </p:txBody>
      </p:sp>
    </p:spTree>
    <p:extLst>
      <p:ext uri="{BB962C8B-B14F-4D97-AF65-F5344CB8AC3E}">
        <p14:creationId xmlns:p14="http://schemas.microsoft.com/office/powerpoint/2010/main" val="17389103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B8ADC5-B0D3-B84C-BBB2-F6DD3574C56B}" type="datetimeFigureOut">
              <a:rPr lang="en-US" smtClean="0"/>
              <a:t>5/1/2026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F5240D-060A-3E4B-A797-4CE8C69AC4D3}" type="slidenum">
              <a:rPr lang="en-US" smtClean="0"/>
              <a:t>‹#›</a:t>
            </a:fld>
            <a:endParaRPr lang="en-US"/>
          </a:p>
        </p:txBody>
      </p:sp>
    </p:spTree>
    <p:extLst>
      <p:ext uri="{BB962C8B-B14F-4D97-AF65-F5344CB8AC3E}">
        <p14:creationId xmlns:p14="http://schemas.microsoft.com/office/powerpoint/2010/main" val="4079123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F5240D-060A-3E4B-A797-4CE8C69AC4D3}" type="slidenum">
              <a:rPr lang="en-US" smtClean="0"/>
              <a:t>1</a:t>
            </a:fld>
            <a:endParaRPr lang="en-US"/>
          </a:p>
        </p:txBody>
      </p:sp>
    </p:spTree>
    <p:extLst>
      <p:ext uri="{BB962C8B-B14F-4D97-AF65-F5344CB8AC3E}">
        <p14:creationId xmlns:p14="http://schemas.microsoft.com/office/powerpoint/2010/main" val="24794780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B95E5-2E41-A1EB-DB72-3FE1726AD6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2CADBA-CC87-F757-EC5A-58895A634C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162A55-A3D8-46F9-AA83-A718F6B3FBA3}"/>
              </a:ext>
            </a:extLst>
          </p:cNvPr>
          <p:cNvSpPr>
            <a:spLocks noGrp="1"/>
          </p:cNvSpPr>
          <p:nvPr>
            <p:ph type="body" idx="1"/>
          </p:nvPr>
        </p:nvSpPr>
        <p:spPr/>
        <p:txBody>
          <a:bodyPr/>
          <a:lstStyle/>
          <a:p>
            <a:r>
              <a:rPr lang="en-US" dirty="0"/>
              <a:t>So stick-slip events happen either every 12 or 24 hours based on the tidal conditions </a:t>
            </a:r>
          </a:p>
          <a:p>
            <a:endParaRPr lang="en-US" dirty="0"/>
          </a:p>
          <a:p>
            <a:r>
              <a:rPr lang="en-US" dirty="0"/>
              <a:t>Ice stream shut down = reorganization of how ice flows </a:t>
            </a:r>
          </a:p>
        </p:txBody>
      </p:sp>
      <p:sp>
        <p:nvSpPr>
          <p:cNvPr id="4" name="Slide Number Placeholder 3">
            <a:extLst>
              <a:ext uri="{FF2B5EF4-FFF2-40B4-BE49-F238E27FC236}">
                <a16:creationId xmlns:a16="http://schemas.microsoft.com/office/drawing/2014/main" id="{5A205D6F-7892-6667-FE10-6F190D359A96}"/>
              </a:ext>
            </a:extLst>
          </p:cNvPr>
          <p:cNvSpPr>
            <a:spLocks noGrp="1"/>
          </p:cNvSpPr>
          <p:nvPr>
            <p:ph type="sldNum" sz="quarter" idx="5"/>
          </p:nvPr>
        </p:nvSpPr>
        <p:spPr/>
        <p:txBody>
          <a:bodyPr/>
          <a:lstStyle/>
          <a:p>
            <a:fld id="{02F5240D-060A-3E4B-A797-4CE8C69AC4D3}" type="slidenum">
              <a:rPr lang="en-US" smtClean="0"/>
              <a:t>2</a:t>
            </a:fld>
            <a:endParaRPr lang="en-US"/>
          </a:p>
        </p:txBody>
      </p:sp>
    </p:spTree>
    <p:extLst>
      <p:ext uri="{BB962C8B-B14F-4D97-AF65-F5344CB8AC3E}">
        <p14:creationId xmlns:p14="http://schemas.microsoft.com/office/powerpoint/2010/main" val="29247103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972CE-0C41-5890-C4AE-47CAAFE6F9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C9EEF9-F017-B226-1163-70C6B00461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4D5726-7988-A0AF-0FA0-2007568D1CD8}"/>
              </a:ext>
            </a:extLst>
          </p:cNvPr>
          <p:cNvSpPr>
            <a:spLocks noGrp="1"/>
          </p:cNvSpPr>
          <p:nvPr>
            <p:ph type="body" idx="1"/>
          </p:nvPr>
        </p:nvSpPr>
        <p:spPr/>
        <p:txBody>
          <a:bodyPr/>
          <a:lstStyle/>
          <a:p>
            <a:r>
              <a:rPr lang="en-US" dirty="0"/>
              <a:t>Aka how do features like the grounding line or subglacial hydrology effect the flow </a:t>
            </a:r>
          </a:p>
        </p:txBody>
      </p:sp>
      <p:sp>
        <p:nvSpPr>
          <p:cNvPr id="4" name="Slide Number Placeholder 3">
            <a:extLst>
              <a:ext uri="{FF2B5EF4-FFF2-40B4-BE49-F238E27FC236}">
                <a16:creationId xmlns:a16="http://schemas.microsoft.com/office/drawing/2014/main" id="{D6CFE775-2F24-552E-FF24-3CD359071E78}"/>
              </a:ext>
            </a:extLst>
          </p:cNvPr>
          <p:cNvSpPr>
            <a:spLocks noGrp="1"/>
          </p:cNvSpPr>
          <p:nvPr>
            <p:ph type="sldNum" sz="quarter" idx="5"/>
          </p:nvPr>
        </p:nvSpPr>
        <p:spPr/>
        <p:txBody>
          <a:bodyPr/>
          <a:lstStyle/>
          <a:p>
            <a:fld id="{02F5240D-060A-3E4B-A797-4CE8C69AC4D3}" type="slidenum">
              <a:rPr lang="en-US" smtClean="0"/>
              <a:t>3</a:t>
            </a:fld>
            <a:endParaRPr lang="en-US"/>
          </a:p>
        </p:txBody>
      </p:sp>
    </p:spTree>
    <p:extLst>
      <p:ext uri="{BB962C8B-B14F-4D97-AF65-F5344CB8AC3E}">
        <p14:creationId xmlns:p14="http://schemas.microsoft.com/office/powerpoint/2010/main" val="19272987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90F50-BF2F-A88D-F12C-6960A49508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2B4813-DA89-6542-1DBD-9BF3EF2520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8D9F8B-F0A5-F099-ECBE-E5A0366F4271}"/>
              </a:ext>
            </a:extLst>
          </p:cNvPr>
          <p:cNvSpPr>
            <a:spLocks noGrp="1"/>
          </p:cNvSpPr>
          <p:nvPr>
            <p:ph type="body" idx="1"/>
          </p:nvPr>
        </p:nvSpPr>
        <p:spPr/>
        <p:txBody>
          <a:bodyPr/>
          <a:lstStyle/>
          <a:p>
            <a:r>
              <a:rPr lang="en-US" dirty="0"/>
              <a:t>Over time for this is 15-second epochs (one position estimate every 15 seconds)</a:t>
            </a:r>
          </a:p>
          <a:p>
            <a:endParaRPr lang="en-US" dirty="0"/>
          </a:p>
          <a:p>
            <a:r>
              <a:rPr lang="en-US" dirty="0"/>
              <a:t>**This is where Emilias new image should go </a:t>
            </a:r>
          </a:p>
        </p:txBody>
      </p:sp>
      <p:sp>
        <p:nvSpPr>
          <p:cNvPr id="4" name="Slide Number Placeholder 3">
            <a:extLst>
              <a:ext uri="{FF2B5EF4-FFF2-40B4-BE49-F238E27FC236}">
                <a16:creationId xmlns:a16="http://schemas.microsoft.com/office/drawing/2014/main" id="{7EE301F9-F749-935B-28D4-78078ECF136A}"/>
              </a:ext>
            </a:extLst>
          </p:cNvPr>
          <p:cNvSpPr>
            <a:spLocks noGrp="1"/>
          </p:cNvSpPr>
          <p:nvPr>
            <p:ph type="sldNum" sz="quarter" idx="5"/>
          </p:nvPr>
        </p:nvSpPr>
        <p:spPr/>
        <p:txBody>
          <a:bodyPr/>
          <a:lstStyle/>
          <a:p>
            <a:fld id="{02F5240D-060A-3E4B-A797-4CE8C69AC4D3}" type="slidenum">
              <a:rPr lang="en-US" smtClean="0"/>
              <a:t>4</a:t>
            </a:fld>
            <a:endParaRPr lang="en-US"/>
          </a:p>
        </p:txBody>
      </p:sp>
    </p:spTree>
    <p:extLst>
      <p:ext uri="{BB962C8B-B14F-4D97-AF65-F5344CB8AC3E}">
        <p14:creationId xmlns:p14="http://schemas.microsoft.com/office/powerpoint/2010/main" val="27886531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662E8-51F9-E499-52F2-5E1D4CC170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CA968D-8CB0-63BA-CB48-342E7D94AA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BBBCB4-5F77-AAEE-2F55-EA287183AD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ED895E-140B-10F3-E07C-67958B714990}"/>
              </a:ext>
            </a:extLst>
          </p:cNvPr>
          <p:cNvSpPr>
            <a:spLocks noGrp="1"/>
          </p:cNvSpPr>
          <p:nvPr>
            <p:ph type="sldNum" sz="quarter" idx="5"/>
          </p:nvPr>
        </p:nvSpPr>
        <p:spPr/>
        <p:txBody>
          <a:bodyPr/>
          <a:lstStyle/>
          <a:p>
            <a:fld id="{02F5240D-060A-3E4B-A797-4CE8C69AC4D3}" type="slidenum">
              <a:rPr lang="en-US" smtClean="0"/>
              <a:t>5</a:t>
            </a:fld>
            <a:endParaRPr lang="en-US"/>
          </a:p>
        </p:txBody>
      </p:sp>
    </p:spTree>
    <p:extLst>
      <p:ext uri="{BB962C8B-B14F-4D97-AF65-F5344CB8AC3E}">
        <p14:creationId xmlns:p14="http://schemas.microsoft.com/office/powerpoint/2010/main" val="12136935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F2660-DAF9-19AE-F2DF-A763D00CF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7A8275-79E3-1F96-C682-040358A026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5C7DCF-E4C7-F55F-2D6A-5D1DF9ADEC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82DD65-3E12-1881-B879-ABDAA9246C9B}"/>
              </a:ext>
            </a:extLst>
          </p:cNvPr>
          <p:cNvSpPr>
            <a:spLocks noGrp="1"/>
          </p:cNvSpPr>
          <p:nvPr>
            <p:ph type="sldNum" sz="quarter" idx="5"/>
          </p:nvPr>
        </p:nvSpPr>
        <p:spPr/>
        <p:txBody>
          <a:bodyPr/>
          <a:lstStyle/>
          <a:p>
            <a:fld id="{02F5240D-060A-3E4B-A797-4CE8C69AC4D3}" type="slidenum">
              <a:rPr lang="en-US" smtClean="0"/>
              <a:t>6</a:t>
            </a:fld>
            <a:endParaRPr lang="en-US"/>
          </a:p>
        </p:txBody>
      </p:sp>
    </p:spTree>
    <p:extLst>
      <p:ext uri="{BB962C8B-B14F-4D97-AF65-F5344CB8AC3E}">
        <p14:creationId xmlns:p14="http://schemas.microsoft.com/office/powerpoint/2010/main" val="22437940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AB273-2756-7A2B-A69A-09D3065C77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441CE2-672F-D100-54AE-D77B3E4B30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B02013-0163-7CEC-A792-5E0D883E494B}"/>
              </a:ext>
            </a:extLst>
          </p:cNvPr>
          <p:cNvSpPr>
            <a:spLocks noGrp="1"/>
          </p:cNvSpPr>
          <p:nvPr>
            <p:ph type="body" idx="1"/>
          </p:nvPr>
        </p:nvSpPr>
        <p:spPr/>
        <p:txBody>
          <a:bodyPr/>
          <a:lstStyle/>
          <a:p>
            <a:r>
              <a:rPr lang="en-US" dirty="0"/>
              <a:t>Rolling median vs regular median: </a:t>
            </a:r>
          </a:p>
          <a:p>
            <a:endParaRPr lang="en-US" dirty="0"/>
          </a:p>
          <a:p>
            <a:r>
              <a:rPr lang="en-US" dirty="0"/>
              <a:t>Regular median = one value for the whole data set </a:t>
            </a:r>
          </a:p>
          <a:p>
            <a:r>
              <a:rPr lang="en-US" dirty="0"/>
              <a:t>Rolling median = 30 day window so it better retains how the velocity is changing day to day </a:t>
            </a:r>
          </a:p>
        </p:txBody>
      </p:sp>
      <p:sp>
        <p:nvSpPr>
          <p:cNvPr id="4" name="Slide Number Placeholder 3">
            <a:extLst>
              <a:ext uri="{FF2B5EF4-FFF2-40B4-BE49-F238E27FC236}">
                <a16:creationId xmlns:a16="http://schemas.microsoft.com/office/drawing/2014/main" id="{E46DD671-4657-EA92-F577-F17DFC4751AD}"/>
              </a:ext>
            </a:extLst>
          </p:cNvPr>
          <p:cNvSpPr>
            <a:spLocks noGrp="1"/>
          </p:cNvSpPr>
          <p:nvPr>
            <p:ph type="sldNum" sz="quarter" idx="5"/>
          </p:nvPr>
        </p:nvSpPr>
        <p:spPr/>
        <p:txBody>
          <a:bodyPr/>
          <a:lstStyle/>
          <a:p>
            <a:fld id="{02F5240D-060A-3E4B-A797-4CE8C69AC4D3}" type="slidenum">
              <a:rPr lang="en-US" smtClean="0"/>
              <a:t>7</a:t>
            </a:fld>
            <a:endParaRPr lang="en-US"/>
          </a:p>
        </p:txBody>
      </p:sp>
    </p:spTree>
    <p:extLst>
      <p:ext uri="{BB962C8B-B14F-4D97-AF65-F5344CB8AC3E}">
        <p14:creationId xmlns:p14="http://schemas.microsoft.com/office/powerpoint/2010/main" val="32006612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42216-29BA-3BED-0B58-59CAB71B69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0050B3-C143-754F-7A73-CB5A813A06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76570A-0ADB-B7C8-2F44-49F3F2F2919E}"/>
              </a:ext>
            </a:extLst>
          </p:cNvPr>
          <p:cNvSpPr>
            <a:spLocks noGrp="1"/>
          </p:cNvSpPr>
          <p:nvPr>
            <p:ph type="body" idx="1"/>
          </p:nvPr>
        </p:nvSpPr>
        <p:spPr/>
        <p:txBody>
          <a:bodyPr/>
          <a:lstStyle/>
          <a:p>
            <a:r>
              <a:rPr lang="en-US" dirty="0"/>
              <a:t>The pre velocity before stick-slip events is represented in pink and is noisy</a:t>
            </a:r>
          </a:p>
          <a:p>
            <a:r>
              <a:rPr lang="en-US" dirty="0"/>
              <a:t>However, the 30-day smoothed velocity for each station shows the consistent deceleration trend and that while there are difference in velocity based on location, the ice plain as whole is coupled in the sense that it responds to forcings (such as tides) as a unit even if each component responds with slightly different magnitudes </a:t>
            </a:r>
          </a:p>
        </p:txBody>
      </p:sp>
      <p:sp>
        <p:nvSpPr>
          <p:cNvPr id="4" name="Slide Number Placeholder 3">
            <a:extLst>
              <a:ext uri="{FF2B5EF4-FFF2-40B4-BE49-F238E27FC236}">
                <a16:creationId xmlns:a16="http://schemas.microsoft.com/office/drawing/2014/main" id="{B1BA3324-EF11-654D-0FCA-6E2144298E2D}"/>
              </a:ext>
            </a:extLst>
          </p:cNvPr>
          <p:cNvSpPr>
            <a:spLocks noGrp="1"/>
          </p:cNvSpPr>
          <p:nvPr>
            <p:ph type="sldNum" sz="quarter" idx="5"/>
          </p:nvPr>
        </p:nvSpPr>
        <p:spPr/>
        <p:txBody>
          <a:bodyPr/>
          <a:lstStyle/>
          <a:p>
            <a:fld id="{02F5240D-060A-3E4B-A797-4CE8C69AC4D3}" type="slidenum">
              <a:rPr lang="en-US" smtClean="0"/>
              <a:t>8</a:t>
            </a:fld>
            <a:endParaRPr lang="en-US"/>
          </a:p>
        </p:txBody>
      </p:sp>
    </p:spTree>
    <p:extLst>
      <p:ext uri="{BB962C8B-B14F-4D97-AF65-F5344CB8AC3E}">
        <p14:creationId xmlns:p14="http://schemas.microsoft.com/office/powerpoint/2010/main" val="39296396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5AA70-A87A-7030-D4EF-8DA7E2F142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A6DAC4-5770-C9DA-5DA8-662A55CA87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E300B5-B966-ED6F-D09E-822BA078848D}"/>
              </a:ext>
            </a:extLst>
          </p:cNvPr>
          <p:cNvSpPr>
            <a:spLocks noGrp="1"/>
          </p:cNvSpPr>
          <p:nvPr>
            <p:ph type="body" idx="1"/>
          </p:nvPr>
        </p:nvSpPr>
        <p:spPr/>
        <p:txBody>
          <a:bodyPr/>
          <a:lstStyle/>
          <a:p>
            <a:r>
              <a:rPr lang="en-US" dirty="0"/>
              <a:t>Shows that different parts of the ice plain are moving at different rates </a:t>
            </a:r>
          </a:p>
          <a:p>
            <a:r>
              <a:rPr lang="en-US" dirty="0"/>
              <a:t>Notably the stations along the grounding zone have the fastest velocity and the grounded parts of the ice plain moving the slowest </a:t>
            </a:r>
          </a:p>
        </p:txBody>
      </p:sp>
      <p:sp>
        <p:nvSpPr>
          <p:cNvPr id="4" name="Slide Number Placeholder 3">
            <a:extLst>
              <a:ext uri="{FF2B5EF4-FFF2-40B4-BE49-F238E27FC236}">
                <a16:creationId xmlns:a16="http://schemas.microsoft.com/office/drawing/2014/main" id="{A0BDE8B6-B50B-E9E6-380E-343255305F12}"/>
              </a:ext>
            </a:extLst>
          </p:cNvPr>
          <p:cNvSpPr>
            <a:spLocks noGrp="1"/>
          </p:cNvSpPr>
          <p:nvPr>
            <p:ph type="sldNum" sz="quarter" idx="5"/>
          </p:nvPr>
        </p:nvSpPr>
        <p:spPr/>
        <p:txBody>
          <a:bodyPr/>
          <a:lstStyle/>
          <a:p>
            <a:fld id="{02F5240D-060A-3E4B-A797-4CE8C69AC4D3}" type="slidenum">
              <a:rPr lang="en-US" smtClean="0"/>
              <a:t>9</a:t>
            </a:fld>
            <a:endParaRPr lang="en-US"/>
          </a:p>
        </p:txBody>
      </p:sp>
    </p:spTree>
    <p:extLst>
      <p:ext uri="{BB962C8B-B14F-4D97-AF65-F5344CB8AC3E}">
        <p14:creationId xmlns:p14="http://schemas.microsoft.com/office/powerpoint/2010/main" val="35014688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1898F-5A29-D710-296A-CED40EA028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C78779-9250-EB19-05AA-4A0270078B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2C73D4-1547-9C01-BDCA-AECB81C28D68}"/>
              </a:ext>
            </a:extLst>
          </p:cNvPr>
          <p:cNvSpPr>
            <a:spLocks noGrp="1"/>
          </p:cNvSpPr>
          <p:nvPr>
            <p:ph type="body" idx="1"/>
          </p:nvPr>
        </p:nvSpPr>
        <p:spPr/>
        <p:txBody>
          <a:bodyPr/>
          <a:lstStyle/>
          <a:p>
            <a:r>
              <a:rPr lang="en-US" dirty="0"/>
              <a:t>Highlighting the inversely proportional relationship between the velocity and the stick slip events</a:t>
            </a:r>
          </a:p>
          <a:p>
            <a:r>
              <a:rPr lang="en-US" dirty="0"/>
              <a:t>Over the course of the dataset the velocity decreases which is leading to longer inter-event times (aka having less secondary/12-hour regime slips) </a:t>
            </a:r>
          </a:p>
        </p:txBody>
      </p:sp>
      <p:sp>
        <p:nvSpPr>
          <p:cNvPr id="4" name="Slide Number Placeholder 3">
            <a:extLst>
              <a:ext uri="{FF2B5EF4-FFF2-40B4-BE49-F238E27FC236}">
                <a16:creationId xmlns:a16="http://schemas.microsoft.com/office/drawing/2014/main" id="{036B37FC-2854-54E9-2569-BA6EE007D90D}"/>
              </a:ext>
            </a:extLst>
          </p:cNvPr>
          <p:cNvSpPr>
            <a:spLocks noGrp="1"/>
          </p:cNvSpPr>
          <p:nvPr>
            <p:ph type="sldNum" sz="quarter" idx="5"/>
          </p:nvPr>
        </p:nvSpPr>
        <p:spPr/>
        <p:txBody>
          <a:bodyPr/>
          <a:lstStyle/>
          <a:p>
            <a:fld id="{02F5240D-060A-3E4B-A797-4CE8C69AC4D3}" type="slidenum">
              <a:rPr lang="en-US" smtClean="0"/>
              <a:t>10</a:t>
            </a:fld>
            <a:endParaRPr lang="en-US"/>
          </a:p>
        </p:txBody>
      </p:sp>
    </p:spTree>
    <p:extLst>
      <p:ext uri="{BB962C8B-B14F-4D97-AF65-F5344CB8AC3E}">
        <p14:creationId xmlns:p14="http://schemas.microsoft.com/office/powerpoint/2010/main" val="38978706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099F0-6720-F434-1BED-3D35217DB8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762D78-380E-1C92-AB65-F5C50A0796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B95028-2866-5C83-878F-1759A8B97C1A}"/>
              </a:ext>
            </a:extLst>
          </p:cNvPr>
          <p:cNvSpPr>
            <a:spLocks noGrp="1"/>
          </p:cNvSpPr>
          <p:nvPr>
            <p:ph type="body" idx="1"/>
          </p:nvPr>
        </p:nvSpPr>
        <p:spPr/>
        <p:txBody>
          <a:bodyPr/>
          <a:lstStyle/>
          <a:p>
            <a:r>
              <a:rPr lang="en-US" dirty="0"/>
              <a:t>Velocity cleaning of days with less than 1,000 15 second epochs. </a:t>
            </a:r>
          </a:p>
          <a:p>
            <a:endParaRPr lang="en-US" dirty="0"/>
          </a:p>
          <a:p>
            <a:r>
              <a:rPr lang="en-US" dirty="0"/>
              <a:t>Kadida </a:t>
            </a:r>
          </a:p>
        </p:txBody>
      </p:sp>
      <p:sp>
        <p:nvSpPr>
          <p:cNvPr id="4" name="Slide Number Placeholder 3">
            <a:extLst>
              <a:ext uri="{FF2B5EF4-FFF2-40B4-BE49-F238E27FC236}">
                <a16:creationId xmlns:a16="http://schemas.microsoft.com/office/drawing/2014/main" id="{71168CB6-625E-B2FE-664B-4255D1AFD918}"/>
              </a:ext>
            </a:extLst>
          </p:cNvPr>
          <p:cNvSpPr>
            <a:spLocks noGrp="1"/>
          </p:cNvSpPr>
          <p:nvPr>
            <p:ph type="sldNum" sz="quarter" idx="5"/>
          </p:nvPr>
        </p:nvSpPr>
        <p:spPr/>
        <p:txBody>
          <a:bodyPr/>
          <a:lstStyle/>
          <a:p>
            <a:fld id="{02F5240D-060A-3E4B-A797-4CE8C69AC4D3}" type="slidenum">
              <a:rPr lang="en-US" smtClean="0"/>
              <a:t>11</a:t>
            </a:fld>
            <a:endParaRPr lang="en-US"/>
          </a:p>
        </p:txBody>
      </p:sp>
    </p:spTree>
    <p:extLst>
      <p:ext uri="{BB962C8B-B14F-4D97-AF65-F5344CB8AC3E}">
        <p14:creationId xmlns:p14="http://schemas.microsoft.com/office/powerpoint/2010/main" val="13699402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63B62-23DA-B127-A02F-3110112EB0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D740E0-5941-0B2E-97F7-E5D6EE259B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C5384E-665B-A2D2-AF21-8B396518E71B}"/>
              </a:ext>
            </a:extLst>
          </p:cNvPr>
          <p:cNvSpPr>
            <a:spLocks noGrp="1"/>
          </p:cNvSpPr>
          <p:nvPr>
            <p:ph type="body" idx="1"/>
          </p:nvPr>
        </p:nvSpPr>
        <p:spPr/>
        <p:txBody>
          <a:bodyPr/>
          <a:lstStyle/>
          <a:p>
            <a:r>
              <a:rPr lang="en-US" dirty="0"/>
              <a:t>Inverse relationship makes sense because faster ice flow likely builds stress more quickly </a:t>
            </a:r>
          </a:p>
        </p:txBody>
      </p:sp>
      <p:sp>
        <p:nvSpPr>
          <p:cNvPr id="4" name="Slide Number Placeholder 3">
            <a:extLst>
              <a:ext uri="{FF2B5EF4-FFF2-40B4-BE49-F238E27FC236}">
                <a16:creationId xmlns:a16="http://schemas.microsoft.com/office/drawing/2014/main" id="{139BA0AC-7090-FCA4-69D1-41AD05A7C9E7}"/>
              </a:ext>
            </a:extLst>
          </p:cNvPr>
          <p:cNvSpPr>
            <a:spLocks noGrp="1"/>
          </p:cNvSpPr>
          <p:nvPr>
            <p:ph type="sldNum" sz="quarter" idx="5"/>
          </p:nvPr>
        </p:nvSpPr>
        <p:spPr/>
        <p:txBody>
          <a:bodyPr/>
          <a:lstStyle/>
          <a:p>
            <a:fld id="{02F5240D-060A-3E4B-A797-4CE8C69AC4D3}" type="slidenum">
              <a:rPr lang="en-US" smtClean="0"/>
              <a:t>12</a:t>
            </a:fld>
            <a:endParaRPr lang="en-US"/>
          </a:p>
        </p:txBody>
      </p:sp>
    </p:spTree>
    <p:extLst>
      <p:ext uri="{BB962C8B-B14F-4D97-AF65-F5344CB8AC3E}">
        <p14:creationId xmlns:p14="http://schemas.microsoft.com/office/powerpoint/2010/main" val="29202061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9A391-4229-B933-58F1-0490C90679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D3D7F-2697-7130-09CB-685AC4CE4F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36172C-6223-5496-23BB-E7CC137F83CE}"/>
              </a:ext>
            </a:extLst>
          </p:cNvPr>
          <p:cNvSpPr>
            <a:spLocks noGrp="1"/>
          </p:cNvSpPr>
          <p:nvPr>
            <p:ph type="body" idx="1"/>
          </p:nvPr>
        </p:nvSpPr>
        <p:spPr/>
        <p:txBody>
          <a:bodyPr/>
          <a:lstStyle/>
          <a:p>
            <a:r>
              <a:rPr lang="en-US" dirty="0"/>
              <a:t>Emilia </a:t>
            </a:r>
          </a:p>
        </p:txBody>
      </p:sp>
      <p:sp>
        <p:nvSpPr>
          <p:cNvPr id="4" name="Slide Number Placeholder 3">
            <a:extLst>
              <a:ext uri="{FF2B5EF4-FFF2-40B4-BE49-F238E27FC236}">
                <a16:creationId xmlns:a16="http://schemas.microsoft.com/office/drawing/2014/main" id="{F75B179D-7854-8B4A-AE60-F63FE4779CAA}"/>
              </a:ext>
            </a:extLst>
          </p:cNvPr>
          <p:cNvSpPr>
            <a:spLocks noGrp="1"/>
          </p:cNvSpPr>
          <p:nvPr>
            <p:ph type="sldNum" sz="quarter" idx="5"/>
          </p:nvPr>
        </p:nvSpPr>
        <p:spPr/>
        <p:txBody>
          <a:bodyPr/>
          <a:lstStyle/>
          <a:p>
            <a:fld id="{02F5240D-060A-3E4B-A797-4CE8C69AC4D3}" type="slidenum">
              <a:rPr lang="en-US" smtClean="0"/>
              <a:t>13</a:t>
            </a:fld>
            <a:endParaRPr lang="en-US"/>
          </a:p>
        </p:txBody>
      </p:sp>
    </p:spTree>
    <p:extLst>
      <p:ext uri="{BB962C8B-B14F-4D97-AF65-F5344CB8AC3E}">
        <p14:creationId xmlns:p14="http://schemas.microsoft.com/office/powerpoint/2010/main" val="17553130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2" cstate="screen">
            <a:alphaModFix amt="25000"/>
            <a:extLst>
              <a:ext uri="{28A0092B-C50C-407E-A947-70E740481C1C}">
                <a14:useLocalDpi xmlns:a14="http://schemas.microsoft.com/office/drawing/2010/main"/>
              </a:ext>
            </a:extLst>
          </a:blip>
          <a:stretch>
            <a:fillRect/>
          </a:stretch>
        </p:blipFill>
        <p:spPr>
          <a:xfrm>
            <a:off x="1835085" y="170978"/>
            <a:ext cx="10356915" cy="5825765"/>
          </a:xfrm>
          <a:prstGeom prst="rect">
            <a:avLst/>
          </a:prstGeom>
        </p:spPr>
      </p:pic>
      <p:sp>
        <p:nvSpPr>
          <p:cNvPr id="21" name="Rectangle 20">
            <a:extLst>
              <a:ext uri="{FF2B5EF4-FFF2-40B4-BE49-F238E27FC236}">
                <a16:creationId xmlns:a16="http://schemas.microsoft.com/office/drawing/2014/main" id="{2DF55106-BA85-A046-A450-43480962F8F7}"/>
              </a:ext>
            </a:extLst>
          </p:cNvPr>
          <p:cNvSpPr/>
          <p:nvPr userDrawn="1"/>
        </p:nvSpPr>
        <p:spPr>
          <a:xfrm>
            <a:off x="-48638" y="-9728"/>
            <a:ext cx="12260094" cy="6265544"/>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5" name="Footer Placeholder 4"/>
          <p:cNvSpPr>
            <a:spLocks noGrp="1"/>
          </p:cNvSpPr>
          <p:nvPr>
            <p:ph type="ftr" sz="quarter" idx="11"/>
          </p:nvPr>
        </p:nvSpPr>
        <p:spPr>
          <a:xfrm>
            <a:off x="4782356" y="6356352"/>
            <a:ext cx="3371044" cy="382553"/>
          </a:xfrm>
          <a:prstGeom prst="rect">
            <a:avLst/>
          </a:prstGeom>
        </p:spPr>
        <p:txBody>
          <a:bodyPr/>
          <a:lstStyle/>
          <a:p>
            <a:endParaRPr lang="en-US" dirty="0"/>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12" name="Title 1"/>
          <p:cNvSpPr>
            <a:spLocks noGrp="1"/>
          </p:cNvSpPr>
          <p:nvPr>
            <p:ph type="ctrTitle"/>
          </p:nvPr>
        </p:nvSpPr>
        <p:spPr>
          <a:xfrm>
            <a:off x="395371" y="2243579"/>
            <a:ext cx="10803672" cy="719056"/>
          </a:xfrm>
        </p:spPr>
        <p:txBody>
          <a:bodyPr>
            <a:normAutofit/>
          </a:bodyPr>
          <a:lstStyle>
            <a:lvl1pPr>
              <a:defRPr b="1"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pPr algn="l"/>
            <a:r>
              <a:rPr lang="en-US" sz="5400" dirty="0">
                <a:solidFill>
                  <a:schemeClr val="bg1"/>
                </a:solidFill>
              </a:rPr>
              <a:t>Presentation Title Goes Here</a:t>
            </a:r>
          </a:p>
        </p:txBody>
      </p:sp>
      <p:cxnSp>
        <p:nvCxnSpPr>
          <p:cNvPr id="14" name="Straight Connector 13"/>
          <p:cNvCxnSpPr/>
          <p:nvPr userDrawn="1"/>
        </p:nvCxnSpPr>
        <p:spPr>
          <a:xfrm>
            <a:off x="520878" y="3287006"/>
            <a:ext cx="911199" cy="0"/>
          </a:xfrm>
          <a:prstGeom prst="line">
            <a:avLst/>
          </a:prstGeom>
          <a:ln w="28575">
            <a:solidFill>
              <a:srgbClr val="D2492A"/>
            </a:solidFill>
          </a:ln>
          <a:effectLst/>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78B3FD82-CB41-C84B-B706-06F09C4B7CF1}"/>
              </a:ext>
            </a:extLst>
          </p:cNvPr>
          <p:cNvSpPr txBox="1"/>
          <p:nvPr userDrawn="1"/>
        </p:nvSpPr>
        <p:spPr>
          <a:xfrm>
            <a:off x="7478040" y="6407925"/>
            <a:ext cx="4489537" cy="369332"/>
          </a:xfrm>
          <a:prstGeom prst="rect">
            <a:avLst/>
          </a:prstGeom>
          <a:noFill/>
        </p:spPr>
        <p:txBody>
          <a:bodyPr wrap="square" rtlCol="0">
            <a:spAutoFit/>
          </a:bodyPr>
          <a:lstStyle/>
          <a:p>
            <a:pPr algn="r"/>
            <a:r>
              <a:rPr lang="en-US" sz="1800" b="1" i="0" dirty="0">
                <a:solidFill>
                  <a:srgbClr val="21314D"/>
                </a:solidFill>
                <a:latin typeface="Arial" panose="020B0604020202020204" pitchFamily="34" charset="0"/>
                <a:ea typeface="Gotham Bold" charset="0"/>
                <a:cs typeface="Arial" panose="020B0604020202020204" pitchFamily="34" charset="0"/>
              </a:rPr>
              <a:t>MINES</a:t>
            </a:r>
            <a:r>
              <a:rPr lang="en-US" sz="1800" b="1" i="0" dirty="0">
                <a:solidFill>
                  <a:srgbClr val="D2492A"/>
                </a:solidFill>
                <a:latin typeface="Arial" panose="020B0604020202020204" pitchFamily="34" charset="0"/>
                <a:ea typeface="Gotham Bold" charset="0"/>
                <a:cs typeface="Arial" panose="020B0604020202020204" pitchFamily="34" charset="0"/>
              </a:rPr>
              <a:t>.</a:t>
            </a:r>
            <a:r>
              <a:rPr lang="en-US" sz="1800" b="0" i="0" dirty="0">
                <a:solidFill>
                  <a:srgbClr val="92A2BD"/>
                </a:solidFill>
                <a:latin typeface="Arial" panose="020B0604020202020204" pitchFamily="34" charset="0"/>
                <a:ea typeface="Gotham Book" charset="0"/>
                <a:cs typeface="Arial" panose="020B0604020202020204" pitchFamily="34" charset="0"/>
              </a:rPr>
              <a:t>EDU</a:t>
            </a:r>
          </a:p>
        </p:txBody>
      </p:sp>
      <p:sp>
        <p:nvSpPr>
          <p:cNvPr id="13" name="Subtitle 2"/>
          <p:cNvSpPr>
            <a:spLocks noGrp="1"/>
          </p:cNvSpPr>
          <p:nvPr>
            <p:ph type="subTitle" idx="1"/>
          </p:nvPr>
        </p:nvSpPr>
        <p:spPr>
          <a:xfrm>
            <a:off x="395371" y="3737295"/>
            <a:ext cx="9144000" cy="1655762"/>
          </a:xfrm>
        </p:spPr>
        <p:txBody>
          <a:bodyPr/>
          <a:lstStyle>
            <a:lvl1pPr marL="0" indent="0">
              <a:buNone/>
              <a:defRPr b="0"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pPr algn="l"/>
            <a:r>
              <a:rPr lang="en-US" dirty="0">
                <a:solidFill>
                  <a:schemeClr val="bg1"/>
                </a:solidFill>
              </a:rPr>
              <a:t>Subhead, name or date goes here</a:t>
            </a:r>
          </a:p>
        </p:txBody>
      </p:sp>
      <p:pic>
        <p:nvPicPr>
          <p:cNvPr id="24" name="Picture 23">
            <a:extLst>
              <a:ext uri="{FF2B5EF4-FFF2-40B4-BE49-F238E27FC236}">
                <a16:creationId xmlns:a16="http://schemas.microsoft.com/office/drawing/2014/main" id="{F3429AB2-51CA-D34A-933D-348196C30A2C}"/>
              </a:ext>
            </a:extLst>
          </p:cNvPr>
          <p:cNvPicPr>
            <a:picLocks noChangeAspect="1"/>
          </p:cNvPicPr>
          <p:nvPr userDrawn="1"/>
        </p:nvPicPr>
        <p:blipFill>
          <a:blip r:embed="rId3" cstate="screen">
            <a:alphaModFix amt="10000"/>
            <a:extLst>
              <a:ext uri="{28A0092B-C50C-407E-A947-70E740481C1C}">
                <a14:useLocalDpi xmlns:a14="http://schemas.microsoft.com/office/drawing/2010/main"/>
              </a:ext>
            </a:extLst>
          </a:blip>
          <a:srcRect/>
          <a:stretch/>
        </p:blipFill>
        <p:spPr>
          <a:xfrm>
            <a:off x="7384256" y="-12784"/>
            <a:ext cx="6962859" cy="6599580"/>
          </a:xfrm>
          <a:prstGeom prst="rect">
            <a:avLst/>
          </a:prstGeom>
        </p:spPr>
      </p:pic>
      <p:pic>
        <p:nvPicPr>
          <p:cNvPr id="2" name="Picture 1">
            <a:extLst>
              <a:ext uri="{FF2B5EF4-FFF2-40B4-BE49-F238E27FC236}">
                <a16:creationId xmlns:a16="http://schemas.microsoft.com/office/drawing/2014/main" id="{FD685737-4D8C-8556-3EB9-512C4CB4CFEF}"/>
              </a:ext>
            </a:extLst>
          </p:cNvPr>
          <p:cNvPicPr/>
          <p:nvPr userDrawn="1"/>
        </p:nvPicPr>
        <p:blipFill>
          <a:blip r:embed="rId4"/>
          <a:srcRect/>
          <a:stretch/>
        </p:blipFill>
        <p:spPr bwMode="auto">
          <a:xfrm>
            <a:off x="170744" y="6272555"/>
            <a:ext cx="4517828" cy="54172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08327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Rectangle 9"/>
          <p:cNvSpPr/>
          <p:nvPr userDrawn="1"/>
        </p:nvSpPr>
        <p:spPr>
          <a:xfrm>
            <a:off x="-9728" y="-9729"/>
            <a:ext cx="12201728" cy="6265545"/>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hasCustomPrompt="1"/>
          </p:nvPr>
        </p:nvSpPr>
        <p:spPr>
          <a:xfrm>
            <a:off x="831851" y="1709740"/>
            <a:ext cx="10515600" cy="2852737"/>
          </a:xfrm>
        </p:spPr>
        <p:txBody>
          <a:bodyPr anchor="b">
            <a:normAutofit/>
          </a:bodyPr>
          <a:lstStyle>
            <a:lvl1pPr>
              <a:defRPr sz="4400" b="1"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r>
              <a:rPr lang="en-US" dirty="0"/>
              <a:t>Section header goes here</a:t>
            </a:r>
          </a:p>
        </p:txBody>
      </p:sp>
      <p:sp>
        <p:nvSpPr>
          <p:cNvPr id="3" name="Text Placeholder 2"/>
          <p:cNvSpPr>
            <a:spLocks noGrp="1"/>
          </p:cNvSpPr>
          <p:nvPr>
            <p:ph type="body" idx="1" hasCustomPrompt="1"/>
          </p:nvPr>
        </p:nvSpPr>
        <p:spPr>
          <a:xfrm>
            <a:off x="831851" y="4589465"/>
            <a:ext cx="10515600" cy="1500187"/>
          </a:xfrm>
        </p:spPr>
        <p:txBody>
          <a:bodyPr/>
          <a:lstStyle>
            <a:lvl1pPr marL="0" indent="0">
              <a:buNone/>
              <a:defRPr sz="2400" b="0" i="0">
                <a:solidFill>
                  <a:srgbClr val="92A2BD"/>
                </a:solidFill>
                <a:latin typeface="Arial" panose="020B0604020202020204" pitchFamily="34" charset="0"/>
                <a:ea typeface="Arial" panose="020B0604020202020204" pitchFamily="34" charset="0"/>
                <a:cs typeface="Arial" panose="020B0604020202020204"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Section subhead goes here</a:t>
            </a:r>
          </a:p>
        </p:txBody>
      </p:sp>
      <p:sp>
        <p:nvSpPr>
          <p:cNvPr id="5" name="Footer Placeholder 4"/>
          <p:cNvSpPr>
            <a:spLocks noGrp="1"/>
          </p:cNvSpPr>
          <p:nvPr>
            <p:ph type="ftr" sz="quarter" idx="11"/>
          </p:nvPr>
        </p:nvSpPr>
        <p:spPr>
          <a:xfrm>
            <a:off x="4713960" y="6356352"/>
            <a:ext cx="3439439" cy="420905"/>
          </a:xfrm>
          <a:prstGeom prst="rect">
            <a:avLst/>
          </a:prstGeom>
        </p:spPr>
        <p:txBody>
          <a:bodyPr/>
          <a:lstStyle/>
          <a:p>
            <a:endParaRPr lang="en-US" dirty="0"/>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13" name="TextBox 12">
            <a:extLst>
              <a:ext uri="{FF2B5EF4-FFF2-40B4-BE49-F238E27FC236}">
                <a16:creationId xmlns:a16="http://schemas.microsoft.com/office/drawing/2014/main" id="{25715021-AF61-AF4F-9B48-1343FD8CB059}"/>
              </a:ext>
            </a:extLst>
          </p:cNvPr>
          <p:cNvSpPr txBox="1"/>
          <p:nvPr userDrawn="1"/>
        </p:nvSpPr>
        <p:spPr>
          <a:xfrm>
            <a:off x="7478040" y="6407925"/>
            <a:ext cx="4489537" cy="369332"/>
          </a:xfrm>
          <a:prstGeom prst="rect">
            <a:avLst/>
          </a:prstGeom>
          <a:noFill/>
        </p:spPr>
        <p:txBody>
          <a:bodyPr wrap="square" rtlCol="0">
            <a:spAutoFit/>
          </a:bodyPr>
          <a:lstStyle/>
          <a:p>
            <a:pPr algn="r"/>
            <a:r>
              <a:rPr lang="en-US" sz="1800" b="1" i="0" dirty="0">
                <a:solidFill>
                  <a:srgbClr val="21314D"/>
                </a:solidFill>
                <a:latin typeface="Arial" panose="020B0604020202020204" pitchFamily="34" charset="0"/>
                <a:ea typeface="Gotham Bold" charset="0"/>
                <a:cs typeface="Arial" panose="020B0604020202020204" pitchFamily="34" charset="0"/>
              </a:rPr>
              <a:t>MINES</a:t>
            </a:r>
            <a:r>
              <a:rPr lang="en-US" sz="1800" b="1" i="0" dirty="0">
                <a:solidFill>
                  <a:srgbClr val="D2492A"/>
                </a:solidFill>
                <a:latin typeface="Arial" panose="020B0604020202020204" pitchFamily="34" charset="0"/>
                <a:ea typeface="Gotham Bold" charset="0"/>
                <a:cs typeface="Arial" panose="020B0604020202020204" pitchFamily="34" charset="0"/>
              </a:rPr>
              <a:t>.</a:t>
            </a:r>
            <a:r>
              <a:rPr lang="en-US" sz="1800" b="0" i="0" dirty="0">
                <a:solidFill>
                  <a:srgbClr val="92A2BD"/>
                </a:solidFill>
                <a:latin typeface="Arial" panose="020B0604020202020204" pitchFamily="34" charset="0"/>
                <a:ea typeface="Gotham Book" charset="0"/>
                <a:cs typeface="Arial" panose="020B0604020202020204" pitchFamily="34" charset="0"/>
              </a:rPr>
              <a:t>EDU</a:t>
            </a:r>
          </a:p>
        </p:txBody>
      </p:sp>
      <p:pic>
        <p:nvPicPr>
          <p:cNvPr id="9" name="Picture 8">
            <a:extLst>
              <a:ext uri="{FF2B5EF4-FFF2-40B4-BE49-F238E27FC236}">
                <a16:creationId xmlns:a16="http://schemas.microsoft.com/office/drawing/2014/main" id="{464FFB32-28EC-8E7F-BBDD-10156E7A1D19}"/>
              </a:ext>
            </a:extLst>
          </p:cNvPr>
          <p:cNvPicPr/>
          <p:nvPr userDrawn="1"/>
        </p:nvPicPr>
        <p:blipFill>
          <a:blip r:embed="rId2"/>
          <a:srcRect/>
          <a:stretch/>
        </p:blipFill>
        <p:spPr bwMode="auto">
          <a:xfrm>
            <a:off x="170744" y="6272555"/>
            <a:ext cx="4517828" cy="54172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5936876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21314D"/>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15" name="Rectangle 14"/>
          <p:cNvSpPr/>
          <p:nvPr userDrawn="1"/>
        </p:nvSpPr>
        <p:spPr>
          <a:xfrm>
            <a:off x="-9728" y="6265545"/>
            <a:ext cx="12201728" cy="601701"/>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3" name="Content Placeholder 2"/>
          <p:cNvSpPr>
            <a:spLocks noGrp="1"/>
          </p:cNvSpPr>
          <p:nvPr>
            <p:ph idx="1"/>
          </p:nvPr>
        </p:nvSpPr>
        <p:spPr/>
        <p:txBody>
          <a:bodyPr/>
          <a:lstStyle>
            <a:lvl1pPr>
              <a:lnSpc>
                <a:spcPct val="110000"/>
              </a:lnSpc>
              <a:spcBef>
                <a:spcPts val="1000"/>
              </a:spcBef>
              <a:defRPr>
                <a:latin typeface="Arial" panose="020B0604020202020204" pitchFamily="34" charset="0"/>
                <a:cs typeface="Arial" panose="020B0604020202020204" pitchFamily="34" charset="0"/>
              </a:defRPr>
            </a:lvl1pPr>
            <a:lvl2pPr>
              <a:lnSpc>
                <a:spcPct val="110000"/>
              </a:lnSpc>
              <a:spcBef>
                <a:spcPts val="1000"/>
              </a:spcBef>
              <a:defRPr>
                <a:latin typeface="Arial" panose="020B0604020202020204" pitchFamily="34" charset="0"/>
                <a:cs typeface="Arial" panose="020B0604020202020204" pitchFamily="34" charset="0"/>
              </a:defRPr>
            </a:lvl2pPr>
            <a:lvl3pPr>
              <a:lnSpc>
                <a:spcPct val="110000"/>
              </a:lnSpc>
              <a:spcBef>
                <a:spcPts val="1000"/>
              </a:spcBef>
              <a:defRPr>
                <a:latin typeface="Arial" panose="020B0604020202020204" pitchFamily="34" charset="0"/>
                <a:cs typeface="Arial" panose="020B0604020202020204" pitchFamily="34" charset="0"/>
              </a:defRPr>
            </a:lvl3pPr>
            <a:lvl4pPr>
              <a:lnSpc>
                <a:spcPct val="110000"/>
              </a:lnSpc>
              <a:spcBef>
                <a:spcPts val="1000"/>
              </a:spcBef>
              <a:defRPr>
                <a:latin typeface="Arial" panose="020B0604020202020204" pitchFamily="34" charset="0"/>
                <a:cs typeface="Arial" panose="020B0604020202020204" pitchFamily="34" charset="0"/>
              </a:defRPr>
            </a:lvl4pPr>
            <a:lvl5pPr>
              <a:lnSpc>
                <a:spcPct val="110000"/>
              </a:lnSpc>
              <a:spcBef>
                <a:spcPts val="1000"/>
              </a:spcBef>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14" name="TextBox 13"/>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Arial" panose="020B0604020202020204" pitchFamily="34" charset="0"/>
                <a:ea typeface="Gotham Bold" charset="0"/>
                <a:cs typeface="Arial" panose="020B0604020202020204" pitchFamily="34" charset="0"/>
              </a:rPr>
              <a:t>MINES</a:t>
            </a:r>
            <a:r>
              <a:rPr lang="en-US" sz="1800" b="1" i="0" dirty="0">
                <a:solidFill>
                  <a:srgbClr val="D2492A"/>
                </a:solidFill>
                <a:latin typeface="Arial" panose="020B0604020202020204" pitchFamily="34" charset="0"/>
                <a:ea typeface="Gotham Bold" charset="0"/>
                <a:cs typeface="Arial" panose="020B0604020202020204" pitchFamily="34" charset="0"/>
              </a:rPr>
              <a:t>.</a:t>
            </a:r>
            <a:r>
              <a:rPr lang="en-US" sz="1800" b="0" i="0" dirty="0">
                <a:solidFill>
                  <a:srgbClr val="92A2BD"/>
                </a:solidFill>
                <a:latin typeface="Arial" panose="020B0604020202020204" pitchFamily="34" charset="0"/>
                <a:ea typeface="Gotham Book" charset="0"/>
                <a:cs typeface="Arial" panose="020B0604020202020204" pitchFamily="34" charset="0"/>
              </a:rPr>
              <a:t>EDU</a:t>
            </a:r>
          </a:p>
        </p:txBody>
      </p:sp>
      <p:pic>
        <p:nvPicPr>
          <p:cNvPr id="8" name="Picture 7">
            <a:extLst>
              <a:ext uri="{FF2B5EF4-FFF2-40B4-BE49-F238E27FC236}">
                <a16:creationId xmlns:a16="http://schemas.microsoft.com/office/drawing/2014/main" id="{3825D11F-BECA-9195-1643-4A17F94E2F18}"/>
              </a:ext>
            </a:extLst>
          </p:cNvPr>
          <p:cNvPicPr/>
          <p:nvPr userDrawn="1"/>
        </p:nvPicPr>
        <p:blipFill>
          <a:blip r:embed="rId2"/>
          <a:srcRect/>
          <a:stretch/>
        </p:blipFill>
        <p:spPr bwMode="auto">
          <a:xfrm>
            <a:off x="206066" y="6280773"/>
            <a:ext cx="4447184" cy="54172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136334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21314D"/>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lvl1pPr>
              <a:lnSpc>
                <a:spcPct val="110000"/>
              </a:lnSpc>
              <a:spcBef>
                <a:spcPts val="1000"/>
              </a:spcBef>
              <a:defRPr>
                <a:latin typeface="Arial" panose="020B0604020202020204" pitchFamily="34" charset="0"/>
                <a:cs typeface="Arial" panose="020B0604020202020204" pitchFamily="34" charset="0"/>
              </a:defRPr>
            </a:lvl1pPr>
            <a:lvl2pPr>
              <a:lnSpc>
                <a:spcPct val="110000"/>
              </a:lnSpc>
              <a:spcBef>
                <a:spcPts val="1000"/>
              </a:spcBef>
              <a:defRPr>
                <a:latin typeface="Arial" panose="020B0604020202020204" pitchFamily="34" charset="0"/>
                <a:cs typeface="Arial" panose="020B0604020202020204" pitchFamily="34" charset="0"/>
              </a:defRPr>
            </a:lvl2pPr>
            <a:lvl3pPr>
              <a:lnSpc>
                <a:spcPct val="110000"/>
              </a:lnSpc>
              <a:spcBef>
                <a:spcPts val="1000"/>
              </a:spcBef>
              <a:defRPr>
                <a:latin typeface="Arial" panose="020B0604020202020204" pitchFamily="34" charset="0"/>
                <a:cs typeface="Arial" panose="020B0604020202020204" pitchFamily="34" charset="0"/>
              </a:defRPr>
            </a:lvl3pPr>
            <a:lvl4pPr>
              <a:lnSpc>
                <a:spcPct val="110000"/>
              </a:lnSpc>
              <a:spcBef>
                <a:spcPts val="1000"/>
              </a:spcBef>
              <a:defRPr>
                <a:latin typeface="Arial" panose="020B0604020202020204" pitchFamily="34" charset="0"/>
                <a:cs typeface="Arial" panose="020B0604020202020204" pitchFamily="34" charset="0"/>
              </a:defRPr>
            </a:lvl4pPr>
            <a:lvl5pPr>
              <a:lnSpc>
                <a:spcPct val="110000"/>
              </a:lnSpc>
              <a:spcBef>
                <a:spcPts val="1000"/>
              </a:spcBef>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lvl1pPr>
              <a:lnSpc>
                <a:spcPct val="110000"/>
              </a:lnSpc>
              <a:spcBef>
                <a:spcPts val="1000"/>
              </a:spcBef>
              <a:defRPr>
                <a:latin typeface="Arial" panose="020B0604020202020204" pitchFamily="34" charset="0"/>
                <a:cs typeface="Arial" panose="020B0604020202020204" pitchFamily="34" charset="0"/>
              </a:defRPr>
            </a:lvl1pPr>
            <a:lvl2pPr>
              <a:lnSpc>
                <a:spcPct val="110000"/>
              </a:lnSpc>
              <a:spcBef>
                <a:spcPts val="1000"/>
              </a:spcBef>
              <a:defRPr>
                <a:latin typeface="Arial" panose="020B0604020202020204" pitchFamily="34" charset="0"/>
                <a:cs typeface="Arial" panose="020B0604020202020204" pitchFamily="34" charset="0"/>
              </a:defRPr>
            </a:lvl2pPr>
            <a:lvl3pPr>
              <a:lnSpc>
                <a:spcPct val="110000"/>
              </a:lnSpc>
              <a:spcBef>
                <a:spcPts val="1000"/>
              </a:spcBef>
              <a:defRPr>
                <a:latin typeface="Arial" panose="020B0604020202020204" pitchFamily="34" charset="0"/>
                <a:cs typeface="Arial" panose="020B0604020202020204" pitchFamily="34" charset="0"/>
              </a:defRPr>
            </a:lvl3pPr>
            <a:lvl4pPr>
              <a:lnSpc>
                <a:spcPct val="110000"/>
              </a:lnSpc>
              <a:spcBef>
                <a:spcPts val="1000"/>
              </a:spcBef>
              <a:defRPr>
                <a:latin typeface="Arial" panose="020B0604020202020204" pitchFamily="34" charset="0"/>
                <a:cs typeface="Arial" panose="020B0604020202020204" pitchFamily="34" charset="0"/>
              </a:defRPr>
            </a:lvl4pPr>
            <a:lvl5pPr>
              <a:lnSpc>
                <a:spcPct val="110000"/>
              </a:lnSpc>
              <a:spcBef>
                <a:spcPts val="1000"/>
              </a:spcBef>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5/1/2026</a:t>
            </a:fld>
            <a:endParaRPr lang="en-US"/>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8" name="Rectangle 7"/>
          <p:cNvSpPr/>
          <p:nvPr userDrawn="1"/>
        </p:nvSpPr>
        <p:spPr>
          <a:xfrm>
            <a:off x="-9728" y="6265545"/>
            <a:ext cx="12201728" cy="592455"/>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3" name="TextBox 12">
            <a:extLst>
              <a:ext uri="{FF2B5EF4-FFF2-40B4-BE49-F238E27FC236}">
                <a16:creationId xmlns:a16="http://schemas.microsoft.com/office/drawing/2014/main" id="{3E729617-3EE6-934F-B272-92B6163ABCA3}"/>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Arial" panose="020B0604020202020204" pitchFamily="34" charset="0"/>
                <a:ea typeface="Gotham Bold" charset="0"/>
                <a:cs typeface="Arial" panose="020B0604020202020204" pitchFamily="34" charset="0"/>
              </a:rPr>
              <a:t>MINES</a:t>
            </a:r>
            <a:r>
              <a:rPr lang="en-US" sz="1800" b="1" i="0" dirty="0">
                <a:solidFill>
                  <a:srgbClr val="D2492A"/>
                </a:solidFill>
                <a:latin typeface="Arial" panose="020B0604020202020204" pitchFamily="34" charset="0"/>
                <a:ea typeface="Gotham Bold" charset="0"/>
                <a:cs typeface="Arial" panose="020B0604020202020204" pitchFamily="34" charset="0"/>
              </a:rPr>
              <a:t>.</a:t>
            </a:r>
            <a:r>
              <a:rPr lang="en-US" sz="1800" b="0" i="0" dirty="0">
                <a:solidFill>
                  <a:srgbClr val="92A2BD"/>
                </a:solidFill>
                <a:latin typeface="Arial" panose="020B0604020202020204" pitchFamily="34" charset="0"/>
                <a:ea typeface="Gotham Book" charset="0"/>
                <a:cs typeface="Arial" panose="020B0604020202020204" pitchFamily="34" charset="0"/>
              </a:rPr>
              <a:t>EDU</a:t>
            </a:r>
          </a:p>
        </p:txBody>
      </p:sp>
      <p:pic>
        <p:nvPicPr>
          <p:cNvPr id="10" name="Picture 9">
            <a:extLst>
              <a:ext uri="{FF2B5EF4-FFF2-40B4-BE49-F238E27FC236}">
                <a16:creationId xmlns:a16="http://schemas.microsoft.com/office/drawing/2014/main" id="{919AA425-4633-FC05-D80B-187DA32E80E0}"/>
              </a:ext>
            </a:extLst>
          </p:cNvPr>
          <p:cNvPicPr/>
          <p:nvPr userDrawn="1"/>
        </p:nvPicPr>
        <p:blipFill>
          <a:blip r:embed="rId2"/>
          <a:srcRect/>
          <a:stretch/>
        </p:blipFill>
        <p:spPr bwMode="auto">
          <a:xfrm>
            <a:off x="206066" y="6280773"/>
            <a:ext cx="4447184" cy="54172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6918511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lvl1pPr>
              <a:defRPr>
                <a:solidFill>
                  <a:srgbClr val="21314D"/>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Arial" panose="020B0604020202020204" pitchFamily="34" charset="0"/>
                <a:cs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9" y="2505075"/>
            <a:ext cx="5157787" cy="3684588"/>
          </a:xfrm>
        </p:spPr>
        <p:txBody>
          <a:bodyPr/>
          <a:lstStyle>
            <a:lvl1pPr>
              <a:lnSpc>
                <a:spcPct val="110000"/>
              </a:lnSpc>
              <a:spcBef>
                <a:spcPts val="1000"/>
              </a:spcBef>
              <a:defRPr>
                <a:latin typeface="Arial" panose="020B0604020202020204" pitchFamily="34" charset="0"/>
                <a:cs typeface="Arial" panose="020B0604020202020204" pitchFamily="34" charset="0"/>
              </a:defRPr>
            </a:lvl1pPr>
            <a:lvl2pPr>
              <a:lnSpc>
                <a:spcPct val="110000"/>
              </a:lnSpc>
              <a:spcBef>
                <a:spcPts val="1000"/>
              </a:spcBef>
              <a:defRPr>
                <a:latin typeface="Arial" panose="020B0604020202020204" pitchFamily="34" charset="0"/>
                <a:cs typeface="Arial" panose="020B0604020202020204" pitchFamily="34" charset="0"/>
              </a:defRPr>
            </a:lvl2pPr>
            <a:lvl3pPr>
              <a:lnSpc>
                <a:spcPct val="110000"/>
              </a:lnSpc>
              <a:spcBef>
                <a:spcPts val="1000"/>
              </a:spcBef>
              <a:defRPr>
                <a:latin typeface="Arial" panose="020B0604020202020204" pitchFamily="34" charset="0"/>
                <a:cs typeface="Arial" panose="020B0604020202020204" pitchFamily="34" charset="0"/>
              </a:defRPr>
            </a:lvl3pPr>
            <a:lvl4pPr>
              <a:lnSpc>
                <a:spcPct val="110000"/>
              </a:lnSpc>
              <a:spcBef>
                <a:spcPts val="1000"/>
              </a:spcBef>
              <a:defRPr>
                <a:latin typeface="Arial" panose="020B0604020202020204" pitchFamily="34" charset="0"/>
                <a:cs typeface="Arial" panose="020B0604020202020204" pitchFamily="34" charset="0"/>
              </a:defRPr>
            </a:lvl4pPr>
            <a:lvl5pPr>
              <a:lnSpc>
                <a:spcPct val="110000"/>
              </a:lnSpc>
              <a:spcBef>
                <a:spcPts val="1000"/>
              </a:spcBef>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atin typeface="Arial" panose="020B0604020202020204" pitchFamily="34" charset="0"/>
                <a:cs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lvl1pPr>
              <a:lnSpc>
                <a:spcPct val="110000"/>
              </a:lnSpc>
              <a:spcBef>
                <a:spcPts val="1000"/>
              </a:spcBef>
              <a:defRPr>
                <a:latin typeface="Arial" panose="020B0604020202020204" pitchFamily="34" charset="0"/>
                <a:cs typeface="Arial" panose="020B0604020202020204" pitchFamily="34" charset="0"/>
              </a:defRPr>
            </a:lvl1pPr>
            <a:lvl2pPr>
              <a:lnSpc>
                <a:spcPct val="110000"/>
              </a:lnSpc>
              <a:spcBef>
                <a:spcPts val="1000"/>
              </a:spcBef>
              <a:defRPr>
                <a:latin typeface="Arial" panose="020B0604020202020204" pitchFamily="34" charset="0"/>
                <a:cs typeface="Arial" panose="020B0604020202020204" pitchFamily="34" charset="0"/>
              </a:defRPr>
            </a:lvl2pPr>
            <a:lvl3pPr>
              <a:lnSpc>
                <a:spcPct val="110000"/>
              </a:lnSpc>
              <a:spcBef>
                <a:spcPts val="1000"/>
              </a:spcBef>
              <a:defRPr>
                <a:latin typeface="Arial" panose="020B0604020202020204" pitchFamily="34" charset="0"/>
                <a:cs typeface="Arial" panose="020B0604020202020204" pitchFamily="34" charset="0"/>
              </a:defRPr>
            </a:lvl3pPr>
            <a:lvl4pPr>
              <a:lnSpc>
                <a:spcPct val="110000"/>
              </a:lnSpc>
              <a:spcBef>
                <a:spcPts val="1000"/>
              </a:spcBef>
              <a:defRPr>
                <a:latin typeface="Arial" panose="020B0604020202020204" pitchFamily="34" charset="0"/>
                <a:cs typeface="Arial" panose="020B0604020202020204" pitchFamily="34" charset="0"/>
              </a:defRPr>
            </a:lvl4pPr>
            <a:lvl5pPr>
              <a:lnSpc>
                <a:spcPct val="110000"/>
              </a:lnSpc>
              <a:spcBef>
                <a:spcPts val="1000"/>
              </a:spcBef>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5/1/2026</a:t>
            </a:fld>
            <a:endParaRPr lang="en-US"/>
          </a:p>
        </p:txBody>
      </p:sp>
      <p:sp>
        <p:nvSpPr>
          <p:cNvPr id="8" name="Footer Placeholder 7"/>
          <p:cNvSpPr>
            <a:spLocks noGrp="1"/>
          </p:cNvSpPr>
          <p:nvPr>
            <p:ph type="ftr" sz="quarter" idx="11"/>
          </p:nvPr>
        </p:nvSpPr>
        <p:spPr>
          <a:xfrm>
            <a:off x="4038600" y="6356352"/>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10" name="Rectangle 9"/>
          <p:cNvSpPr/>
          <p:nvPr userDrawn="1"/>
        </p:nvSpPr>
        <p:spPr>
          <a:xfrm>
            <a:off x="-9728" y="6265545"/>
            <a:ext cx="12201728" cy="592455"/>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5" name="TextBox 14">
            <a:extLst>
              <a:ext uri="{FF2B5EF4-FFF2-40B4-BE49-F238E27FC236}">
                <a16:creationId xmlns:a16="http://schemas.microsoft.com/office/drawing/2014/main" id="{07053E08-80AB-B043-979E-87B7A1E7EB21}"/>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Arial" panose="020B0604020202020204" pitchFamily="34" charset="0"/>
                <a:ea typeface="Gotham Bold" charset="0"/>
                <a:cs typeface="Arial" panose="020B0604020202020204" pitchFamily="34" charset="0"/>
              </a:rPr>
              <a:t>MINES</a:t>
            </a:r>
            <a:r>
              <a:rPr lang="en-US" sz="1800" b="1" i="0" dirty="0">
                <a:solidFill>
                  <a:srgbClr val="D2492A"/>
                </a:solidFill>
                <a:latin typeface="Arial" panose="020B0604020202020204" pitchFamily="34" charset="0"/>
                <a:ea typeface="Gotham Bold" charset="0"/>
                <a:cs typeface="Arial" panose="020B0604020202020204" pitchFamily="34" charset="0"/>
              </a:rPr>
              <a:t>.</a:t>
            </a:r>
            <a:r>
              <a:rPr lang="en-US" sz="1800" b="0" i="0" dirty="0">
                <a:solidFill>
                  <a:srgbClr val="92A2BD"/>
                </a:solidFill>
                <a:latin typeface="Arial" panose="020B0604020202020204" pitchFamily="34" charset="0"/>
                <a:ea typeface="Gotham Book" charset="0"/>
                <a:cs typeface="Arial" panose="020B0604020202020204" pitchFamily="34" charset="0"/>
              </a:rPr>
              <a:t>EDU</a:t>
            </a:r>
          </a:p>
        </p:txBody>
      </p:sp>
      <p:pic>
        <p:nvPicPr>
          <p:cNvPr id="12" name="Picture 11">
            <a:extLst>
              <a:ext uri="{FF2B5EF4-FFF2-40B4-BE49-F238E27FC236}">
                <a16:creationId xmlns:a16="http://schemas.microsoft.com/office/drawing/2014/main" id="{F1DA41D5-A2EF-3F46-8CE9-D22C89A886CF}"/>
              </a:ext>
            </a:extLst>
          </p:cNvPr>
          <p:cNvPicPr/>
          <p:nvPr userDrawn="1"/>
        </p:nvPicPr>
        <p:blipFill>
          <a:blip r:embed="rId2"/>
          <a:srcRect/>
          <a:stretch/>
        </p:blipFill>
        <p:spPr bwMode="auto">
          <a:xfrm>
            <a:off x="206066" y="6280773"/>
            <a:ext cx="4447184" cy="54172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1879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21314D"/>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5/1/2026</a:t>
            </a:fld>
            <a:endParaRPr lang="en-US"/>
          </a:p>
        </p:txBody>
      </p:sp>
      <p:sp>
        <p:nvSpPr>
          <p:cNvPr id="4" name="Footer Placeholder 3"/>
          <p:cNvSpPr>
            <a:spLocks noGrp="1"/>
          </p:cNvSpPr>
          <p:nvPr>
            <p:ph type="ftr" sz="quarter" idx="11"/>
          </p:nvPr>
        </p:nvSpPr>
        <p:spPr>
          <a:xfrm>
            <a:off x="4038600" y="6356352"/>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6" name="Rectangle 5"/>
          <p:cNvSpPr/>
          <p:nvPr userDrawn="1"/>
        </p:nvSpPr>
        <p:spPr>
          <a:xfrm>
            <a:off x="-9728" y="6265545"/>
            <a:ext cx="12201728" cy="592455"/>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1" name="TextBox 10">
            <a:extLst>
              <a:ext uri="{FF2B5EF4-FFF2-40B4-BE49-F238E27FC236}">
                <a16:creationId xmlns:a16="http://schemas.microsoft.com/office/drawing/2014/main" id="{6BA0EA07-1225-FE4C-917E-74A024F5E428}"/>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Arial" panose="020B0604020202020204" pitchFamily="34" charset="0"/>
                <a:ea typeface="Gotham Bold" charset="0"/>
                <a:cs typeface="Arial" panose="020B0604020202020204" pitchFamily="34" charset="0"/>
              </a:rPr>
              <a:t>MINES</a:t>
            </a:r>
            <a:r>
              <a:rPr lang="en-US" sz="1800" b="1" i="0" dirty="0">
                <a:solidFill>
                  <a:srgbClr val="D2492A"/>
                </a:solidFill>
                <a:latin typeface="Arial" panose="020B0604020202020204" pitchFamily="34" charset="0"/>
                <a:ea typeface="Gotham Bold" charset="0"/>
                <a:cs typeface="Arial" panose="020B0604020202020204" pitchFamily="34" charset="0"/>
              </a:rPr>
              <a:t>.</a:t>
            </a:r>
            <a:r>
              <a:rPr lang="en-US" sz="1800" b="0" i="0" dirty="0">
                <a:solidFill>
                  <a:srgbClr val="92A2BD"/>
                </a:solidFill>
                <a:latin typeface="Arial" panose="020B0604020202020204" pitchFamily="34" charset="0"/>
                <a:ea typeface="Gotham Book" charset="0"/>
                <a:cs typeface="Arial" panose="020B0604020202020204" pitchFamily="34" charset="0"/>
              </a:rPr>
              <a:t>EDU</a:t>
            </a:r>
          </a:p>
        </p:txBody>
      </p:sp>
      <p:pic>
        <p:nvPicPr>
          <p:cNvPr id="8" name="Picture 7">
            <a:extLst>
              <a:ext uri="{FF2B5EF4-FFF2-40B4-BE49-F238E27FC236}">
                <a16:creationId xmlns:a16="http://schemas.microsoft.com/office/drawing/2014/main" id="{659ABAF5-5B25-8DE7-790D-FA1AE09394A3}"/>
              </a:ext>
            </a:extLst>
          </p:cNvPr>
          <p:cNvPicPr/>
          <p:nvPr userDrawn="1"/>
        </p:nvPicPr>
        <p:blipFill>
          <a:blip r:embed="rId2"/>
          <a:srcRect/>
          <a:stretch/>
        </p:blipFill>
        <p:spPr bwMode="auto">
          <a:xfrm>
            <a:off x="206066" y="6280773"/>
            <a:ext cx="4447184" cy="54172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11590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5/1/2026</a:t>
            </a:fld>
            <a:endParaRPr lang="en-US"/>
          </a:p>
        </p:txBody>
      </p:sp>
      <p:sp>
        <p:nvSpPr>
          <p:cNvPr id="3" name="Footer Placeholder 2"/>
          <p:cNvSpPr>
            <a:spLocks noGrp="1"/>
          </p:cNvSpPr>
          <p:nvPr>
            <p:ph type="ftr" sz="quarter" idx="11"/>
          </p:nvPr>
        </p:nvSpPr>
        <p:spPr>
          <a:xfrm>
            <a:off x="4038600" y="6356352"/>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10" name="Picture Placeholder 2"/>
          <p:cNvSpPr>
            <a:spLocks noGrp="1"/>
          </p:cNvSpPr>
          <p:nvPr>
            <p:ph type="pic" idx="1"/>
          </p:nvPr>
        </p:nvSpPr>
        <p:spPr>
          <a:xfrm>
            <a:off x="0" y="1"/>
            <a:ext cx="12192000" cy="557703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5" name="Title 1">
            <a:extLst>
              <a:ext uri="{FF2B5EF4-FFF2-40B4-BE49-F238E27FC236}">
                <a16:creationId xmlns:a16="http://schemas.microsoft.com/office/drawing/2014/main" id="{E0195860-2CCD-1BF3-2ABA-D0CFB21BBB74}"/>
              </a:ext>
            </a:extLst>
          </p:cNvPr>
          <p:cNvSpPr>
            <a:spLocks noGrp="1"/>
          </p:cNvSpPr>
          <p:nvPr>
            <p:ph type="title"/>
          </p:nvPr>
        </p:nvSpPr>
        <p:spPr>
          <a:xfrm>
            <a:off x="838200" y="5532436"/>
            <a:ext cx="10515600" cy="1325563"/>
          </a:xfrm>
        </p:spPr>
        <p:txBody>
          <a:bodyPr>
            <a:normAutofit/>
          </a:bodyPr>
          <a:lstStyle>
            <a:lvl1pPr>
              <a:defRPr sz="2400">
                <a:solidFill>
                  <a:srgbClr val="21314D"/>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2131095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Rectangle 2"/>
          <p:cNvSpPr/>
          <p:nvPr userDrawn="1"/>
        </p:nvSpPr>
        <p:spPr>
          <a:xfrm>
            <a:off x="-10048" y="-10048"/>
            <a:ext cx="12202048" cy="6868048"/>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2" name="Picture 1">
            <a:extLst>
              <a:ext uri="{FF2B5EF4-FFF2-40B4-BE49-F238E27FC236}">
                <a16:creationId xmlns:a16="http://schemas.microsoft.com/office/drawing/2014/main" id="{3B25E2E4-05B3-B9EC-A480-E55FE3BFE960}"/>
              </a:ext>
            </a:extLst>
          </p:cNvPr>
          <p:cNvPicPr>
            <a:picLocks noChangeAspect="1"/>
          </p:cNvPicPr>
          <p:nvPr userDrawn="1"/>
        </p:nvPicPr>
        <p:blipFill>
          <a:blip r:embed="rId2" cstate="screen">
            <a:alphaModFix amt="10000"/>
            <a:extLst>
              <a:ext uri="{28A0092B-C50C-407E-A947-70E740481C1C}">
                <a14:useLocalDpi xmlns:a14="http://schemas.microsoft.com/office/drawing/2010/main"/>
              </a:ext>
            </a:extLst>
          </a:blip>
          <a:srcRect/>
          <a:stretch/>
        </p:blipFill>
        <p:spPr>
          <a:xfrm>
            <a:off x="7384256" y="-12784"/>
            <a:ext cx="6962859" cy="6599580"/>
          </a:xfrm>
          <a:prstGeom prst="rect">
            <a:avLst/>
          </a:prstGeom>
        </p:spPr>
      </p:pic>
      <p:sp>
        <p:nvSpPr>
          <p:cNvPr id="5" name="Subtitle 2"/>
          <p:cNvSpPr>
            <a:spLocks noGrp="1"/>
          </p:cNvSpPr>
          <p:nvPr>
            <p:ph type="subTitle" idx="1" hasCustomPrompt="1"/>
          </p:nvPr>
        </p:nvSpPr>
        <p:spPr>
          <a:xfrm>
            <a:off x="2046399" y="2531096"/>
            <a:ext cx="9144000" cy="1655762"/>
          </a:xfrm>
        </p:spPr>
        <p:txBody>
          <a:bodyPr>
            <a:normAutofit/>
          </a:bodyPr>
          <a:lstStyle>
            <a:lvl1pPr marL="0" indent="0">
              <a:buNone/>
              <a:defRPr sz="4000" b="0"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pPr algn="l"/>
            <a:r>
              <a:rPr lang="en-US" dirty="0">
                <a:solidFill>
                  <a:schemeClr val="bg1"/>
                </a:solidFill>
              </a:rPr>
              <a:t>“Quote goes here.”</a:t>
            </a:r>
          </a:p>
        </p:txBody>
      </p:sp>
    </p:spTree>
    <p:extLst>
      <p:ext uri="{BB962C8B-B14F-4D97-AF65-F5344CB8AC3E}">
        <p14:creationId xmlns:p14="http://schemas.microsoft.com/office/powerpoint/2010/main" val="224394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Title 1"/>
          <p:cNvSpPr>
            <a:spLocks noGrp="1"/>
          </p:cNvSpPr>
          <p:nvPr>
            <p:ph type="title"/>
          </p:nvPr>
        </p:nvSpPr>
        <p:spPr>
          <a:xfrm>
            <a:off x="7060252" y="982464"/>
            <a:ext cx="4862405" cy="1794085"/>
          </a:xfrm>
        </p:spPr>
        <p:txBody>
          <a:bodyPr/>
          <a:lstStyle>
            <a:lvl1pPr>
              <a:defRPr>
                <a:latin typeface="Arial" panose="020B0604020202020204" pitchFamily="34" charset="0"/>
                <a:cs typeface="Arial" panose="020B0604020202020204" pitchFamily="34" charset="0"/>
              </a:defRPr>
            </a:lvl1pPr>
          </a:lstStyle>
          <a:p>
            <a:r>
              <a:rPr lang="en-US" dirty="0"/>
              <a:t>Headline Copy Goes Here</a:t>
            </a:r>
          </a:p>
        </p:txBody>
      </p:sp>
      <p:sp>
        <p:nvSpPr>
          <p:cNvPr id="4" name="Content Placeholder 2"/>
          <p:cNvSpPr>
            <a:spLocks noGrp="1"/>
          </p:cNvSpPr>
          <p:nvPr>
            <p:ph idx="1"/>
          </p:nvPr>
        </p:nvSpPr>
        <p:spPr>
          <a:xfrm>
            <a:off x="7060253" y="3052261"/>
            <a:ext cx="4862404" cy="1975926"/>
          </a:xfrm>
        </p:spPr>
        <p:txBody>
          <a:bodyPr/>
          <a:lstStyle>
            <a:lvl1pPr>
              <a:lnSpc>
                <a:spcPct val="110000"/>
              </a:lnSpc>
              <a:defRPr>
                <a:latin typeface="Arial" panose="020B0604020202020204" pitchFamily="34" charset="0"/>
                <a:cs typeface="Arial" panose="020B0604020202020204" pitchFamily="34" charset="0"/>
              </a:defRPr>
            </a:lvl1pPr>
          </a:lstStyle>
          <a:p>
            <a:r>
              <a:rPr lang="en-US" dirty="0"/>
              <a:t>Click to add text</a:t>
            </a:r>
          </a:p>
          <a:p>
            <a:r>
              <a:rPr lang="en-US" dirty="0"/>
              <a:t>Click to add text</a:t>
            </a:r>
          </a:p>
        </p:txBody>
      </p:sp>
      <p:sp>
        <p:nvSpPr>
          <p:cNvPr id="6" name="Picture Placeholder 2"/>
          <p:cNvSpPr>
            <a:spLocks noGrp="1"/>
          </p:cNvSpPr>
          <p:nvPr>
            <p:ph type="pic" idx="10"/>
          </p:nvPr>
        </p:nvSpPr>
        <p:spPr>
          <a:xfrm>
            <a:off x="0" y="3"/>
            <a:ext cx="6890995" cy="6857999"/>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8" name="TextBox 7"/>
          <p:cNvSpPr txBox="1"/>
          <p:nvPr userDrawn="1"/>
        </p:nvSpPr>
        <p:spPr>
          <a:xfrm>
            <a:off x="7478040" y="6407925"/>
            <a:ext cx="4489537" cy="369332"/>
          </a:xfrm>
          <a:prstGeom prst="rect">
            <a:avLst/>
          </a:prstGeom>
          <a:noFill/>
        </p:spPr>
        <p:txBody>
          <a:bodyPr wrap="square" rtlCol="0">
            <a:spAutoFit/>
          </a:bodyPr>
          <a:lstStyle/>
          <a:p>
            <a:pPr algn="r"/>
            <a:r>
              <a:rPr lang="en-US" sz="1800" b="1" i="0" dirty="0">
                <a:solidFill>
                  <a:srgbClr val="21314D"/>
                </a:solidFill>
                <a:latin typeface="Arial" panose="020B0604020202020204" pitchFamily="34" charset="0"/>
                <a:ea typeface="Gotham Bold" charset="0"/>
                <a:cs typeface="Arial" panose="020B0604020202020204" pitchFamily="34" charset="0"/>
              </a:rPr>
              <a:t>MINES</a:t>
            </a:r>
            <a:r>
              <a:rPr lang="en-US" sz="1800" b="1" i="0" dirty="0">
                <a:solidFill>
                  <a:srgbClr val="D2492A"/>
                </a:solidFill>
                <a:latin typeface="Arial" panose="020B0604020202020204" pitchFamily="34" charset="0"/>
                <a:ea typeface="Gotham Bold" charset="0"/>
                <a:cs typeface="Arial" panose="020B0604020202020204" pitchFamily="34" charset="0"/>
              </a:rPr>
              <a:t>.</a:t>
            </a:r>
            <a:r>
              <a:rPr lang="en-US" sz="1800" b="0" i="0" dirty="0">
                <a:solidFill>
                  <a:srgbClr val="92A2BD"/>
                </a:solidFill>
                <a:latin typeface="Arial" panose="020B0604020202020204" pitchFamily="34" charset="0"/>
                <a:ea typeface="Gotham Book" charset="0"/>
                <a:cs typeface="Arial" panose="020B0604020202020204" pitchFamily="34" charset="0"/>
              </a:rPr>
              <a:t>EDU</a:t>
            </a:r>
          </a:p>
        </p:txBody>
      </p:sp>
    </p:spTree>
    <p:extLst>
      <p:ext uri="{BB962C8B-B14F-4D97-AF65-F5344CB8AC3E}">
        <p14:creationId xmlns:p14="http://schemas.microsoft.com/office/powerpoint/2010/main" val="539565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solidFill>
                  <a:srgbClr val="21314D"/>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a:xfrm>
            <a:off x="5183188" y="987427"/>
            <a:ext cx="6172200" cy="4873625"/>
          </a:xfrm>
        </p:spPr>
        <p:txBody>
          <a:bodyPr/>
          <a:lstStyle>
            <a:lvl1pPr>
              <a:lnSpc>
                <a:spcPct val="110000"/>
              </a:lnSpc>
              <a:spcBef>
                <a:spcPts val="1000"/>
              </a:spcBef>
              <a:defRPr sz="3200">
                <a:latin typeface="Arial" panose="020B0604020202020204" pitchFamily="34" charset="0"/>
                <a:cs typeface="Arial" panose="020B0604020202020204" pitchFamily="34" charset="0"/>
              </a:defRPr>
            </a:lvl1pPr>
            <a:lvl2pPr>
              <a:lnSpc>
                <a:spcPct val="110000"/>
              </a:lnSpc>
              <a:spcBef>
                <a:spcPts val="1000"/>
              </a:spcBef>
              <a:defRPr sz="2800">
                <a:latin typeface="Arial" panose="020B0604020202020204" pitchFamily="34" charset="0"/>
                <a:cs typeface="Arial" panose="020B0604020202020204" pitchFamily="34" charset="0"/>
              </a:defRPr>
            </a:lvl2pPr>
            <a:lvl3pPr>
              <a:lnSpc>
                <a:spcPct val="110000"/>
              </a:lnSpc>
              <a:spcBef>
                <a:spcPts val="1000"/>
              </a:spcBef>
              <a:defRPr sz="2400">
                <a:latin typeface="Arial" panose="020B0604020202020204" pitchFamily="34" charset="0"/>
                <a:cs typeface="Arial" panose="020B0604020202020204" pitchFamily="34" charset="0"/>
              </a:defRPr>
            </a:lvl3pPr>
            <a:lvl4pPr>
              <a:lnSpc>
                <a:spcPct val="110000"/>
              </a:lnSpc>
              <a:spcBef>
                <a:spcPts val="1000"/>
              </a:spcBef>
              <a:defRPr sz="2000">
                <a:latin typeface="Arial" panose="020B0604020202020204" pitchFamily="34" charset="0"/>
                <a:cs typeface="Arial" panose="020B0604020202020204" pitchFamily="34" charset="0"/>
              </a:defRPr>
            </a:lvl4pPr>
            <a:lvl5pPr>
              <a:lnSpc>
                <a:spcPct val="110000"/>
              </a:lnSpc>
              <a:spcBef>
                <a:spcPts val="1000"/>
              </a:spcBef>
              <a:defRPr sz="2000">
                <a:latin typeface="Arial" panose="020B0604020202020204" pitchFamily="34" charset="0"/>
                <a:cs typeface="Arial" panose="020B0604020202020204"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lnSpc>
                <a:spcPct val="110000"/>
              </a:lnSpc>
              <a:spcBef>
                <a:spcPts val="1000"/>
              </a:spcBef>
              <a:buNone/>
              <a:defRPr sz="1600">
                <a:latin typeface="Arial" panose="020B0604020202020204" pitchFamily="34" charset="0"/>
                <a:cs typeface="Arial" panose="020B0604020202020204" pitchFamily="34"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Master text styles</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5/1/2026</a:t>
            </a:fld>
            <a:endParaRPr lang="en-US"/>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9" name="Rectangle 8"/>
          <p:cNvSpPr/>
          <p:nvPr userDrawn="1"/>
        </p:nvSpPr>
        <p:spPr>
          <a:xfrm>
            <a:off x="-9728" y="6265545"/>
            <a:ext cx="12201728" cy="592455"/>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1" name="TextBox 10">
            <a:extLst>
              <a:ext uri="{FF2B5EF4-FFF2-40B4-BE49-F238E27FC236}">
                <a16:creationId xmlns:a16="http://schemas.microsoft.com/office/drawing/2014/main" id="{8D816478-27A8-5948-917C-6E6357F4BB0B}"/>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Arial" panose="020B0604020202020204" pitchFamily="34" charset="0"/>
                <a:ea typeface="Gotham Bold" charset="0"/>
                <a:cs typeface="Arial" panose="020B0604020202020204" pitchFamily="34" charset="0"/>
              </a:rPr>
              <a:t>MINES</a:t>
            </a:r>
            <a:r>
              <a:rPr lang="en-US" sz="1800" b="1" i="0" dirty="0">
                <a:solidFill>
                  <a:srgbClr val="D2492A"/>
                </a:solidFill>
                <a:latin typeface="Arial" panose="020B0604020202020204" pitchFamily="34" charset="0"/>
                <a:ea typeface="Gotham Bold" charset="0"/>
                <a:cs typeface="Arial" panose="020B0604020202020204" pitchFamily="34" charset="0"/>
              </a:rPr>
              <a:t>.</a:t>
            </a:r>
            <a:r>
              <a:rPr lang="en-US" sz="1800" b="0" i="0" dirty="0">
                <a:solidFill>
                  <a:srgbClr val="92A2BD"/>
                </a:solidFill>
                <a:latin typeface="Arial" panose="020B0604020202020204" pitchFamily="34" charset="0"/>
                <a:ea typeface="Gotham Book" charset="0"/>
                <a:cs typeface="Arial" panose="020B0604020202020204" pitchFamily="34" charset="0"/>
              </a:rPr>
              <a:t>EDU</a:t>
            </a:r>
          </a:p>
        </p:txBody>
      </p:sp>
      <p:pic>
        <p:nvPicPr>
          <p:cNvPr id="8" name="Picture 7">
            <a:extLst>
              <a:ext uri="{FF2B5EF4-FFF2-40B4-BE49-F238E27FC236}">
                <a16:creationId xmlns:a16="http://schemas.microsoft.com/office/drawing/2014/main" id="{7448B8BD-47E4-BA26-18C9-82B1C346D6BE}"/>
              </a:ext>
            </a:extLst>
          </p:cNvPr>
          <p:cNvPicPr/>
          <p:nvPr userDrawn="1"/>
        </p:nvPicPr>
        <p:blipFill>
          <a:blip r:embed="rId2"/>
          <a:srcRect/>
          <a:stretch/>
        </p:blipFill>
        <p:spPr bwMode="auto">
          <a:xfrm>
            <a:off x="206066" y="6280773"/>
            <a:ext cx="4447184" cy="54172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581501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userDrawn="1"/>
        </p:nvSpPr>
        <p:spPr>
          <a:xfrm>
            <a:off x="-10048" y="-10049"/>
            <a:ext cx="5183189" cy="6943412"/>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hasCustomPrompt="1"/>
          </p:nvPr>
        </p:nvSpPr>
        <p:spPr>
          <a:xfrm>
            <a:off x="450058" y="472281"/>
            <a:ext cx="3932237" cy="1600200"/>
          </a:xfrm>
        </p:spPr>
        <p:txBody>
          <a:bodyPr anchor="b">
            <a:normAutofit/>
          </a:bodyPr>
          <a:lstStyle>
            <a:lvl1pPr>
              <a:defRPr sz="4400">
                <a:solidFill>
                  <a:schemeClr val="bg1"/>
                </a:solidFill>
                <a:latin typeface="Arial" panose="020B0604020202020204" pitchFamily="34" charset="0"/>
                <a:cs typeface="Arial" panose="020B0604020202020204" pitchFamily="34" charset="0"/>
              </a:defRPr>
            </a:lvl1pPr>
          </a:lstStyle>
          <a:p>
            <a:r>
              <a:rPr lang="en-US" dirty="0"/>
              <a:t>Copy goes here</a:t>
            </a:r>
          </a:p>
        </p:txBody>
      </p:sp>
      <p:sp>
        <p:nvSpPr>
          <p:cNvPr id="3" name="Picture Placeholder 2"/>
          <p:cNvSpPr>
            <a:spLocks noGrp="1"/>
          </p:cNvSpPr>
          <p:nvPr>
            <p:ph type="pic" idx="1"/>
          </p:nvPr>
        </p:nvSpPr>
        <p:spPr>
          <a:xfrm>
            <a:off x="5183189" y="2"/>
            <a:ext cx="7008812" cy="6857999"/>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hasCustomPrompt="1"/>
          </p:nvPr>
        </p:nvSpPr>
        <p:spPr>
          <a:xfrm>
            <a:off x="450058" y="2072481"/>
            <a:ext cx="3932237" cy="3811588"/>
          </a:xfrm>
        </p:spPr>
        <p:txBody>
          <a:bodyPr>
            <a:normAutofit/>
          </a:bodyPr>
          <a:lstStyle>
            <a:lvl1pPr marL="457189" indent="-457189">
              <a:lnSpc>
                <a:spcPct val="110000"/>
              </a:lnSpc>
              <a:buFont typeface="Arial" charset="0"/>
              <a:buChar char="•"/>
              <a:defRPr sz="2800">
                <a:solidFill>
                  <a:schemeClr val="bg1"/>
                </a:solidFill>
                <a:latin typeface="Arial" panose="020B0604020202020204" pitchFamily="34" charset="0"/>
                <a:cs typeface="Arial" panose="020B0604020202020204" pitchFamily="34"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Supporting text goes here</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5/1/2026</a:t>
            </a:fld>
            <a:endParaRPr lang="en-US"/>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pic>
        <p:nvPicPr>
          <p:cNvPr id="10" name="Picture 9">
            <a:extLst>
              <a:ext uri="{FF2B5EF4-FFF2-40B4-BE49-F238E27FC236}">
                <a16:creationId xmlns:a16="http://schemas.microsoft.com/office/drawing/2014/main" id="{E5011787-6647-5942-9F4B-BDC014410AEA}"/>
              </a:ext>
            </a:extLst>
          </p:cNvPr>
          <p:cNvPicPr/>
          <p:nvPr userDrawn="1"/>
        </p:nvPicPr>
        <p:blipFill>
          <a:blip r:embed="rId2"/>
          <a:srcRect/>
          <a:stretch/>
        </p:blipFill>
        <p:spPr bwMode="auto">
          <a:xfrm>
            <a:off x="206066" y="6280773"/>
            <a:ext cx="4447184" cy="54172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851661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21314D"/>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lnSpc>
                <a:spcPct val="110000"/>
              </a:lnSpc>
              <a:spcBef>
                <a:spcPts val="1000"/>
              </a:spcBef>
              <a:defRPr>
                <a:latin typeface="Arial" panose="020B0604020202020204" pitchFamily="34" charset="0"/>
                <a:cs typeface="Arial" panose="020B0604020202020204" pitchFamily="34" charset="0"/>
              </a:defRPr>
            </a:lvl1pPr>
            <a:lvl2pPr>
              <a:lnSpc>
                <a:spcPct val="110000"/>
              </a:lnSpc>
              <a:spcBef>
                <a:spcPts val="1000"/>
              </a:spcBef>
              <a:defRPr>
                <a:latin typeface="Arial" panose="020B0604020202020204" pitchFamily="34" charset="0"/>
                <a:cs typeface="Arial" panose="020B0604020202020204" pitchFamily="34" charset="0"/>
              </a:defRPr>
            </a:lvl2pPr>
            <a:lvl3pPr>
              <a:lnSpc>
                <a:spcPct val="110000"/>
              </a:lnSpc>
              <a:spcBef>
                <a:spcPts val="1000"/>
              </a:spcBef>
              <a:defRPr>
                <a:latin typeface="Arial" panose="020B0604020202020204" pitchFamily="34" charset="0"/>
                <a:cs typeface="Arial" panose="020B0604020202020204" pitchFamily="34" charset="0"/>
              </a:defRPr>
            </a:lvl3pPr>
            <a:lvl4pPr>
              <a:lnSpc>
                <a:spcPct val="110000"/>
              </a:lnSpc>
              <a:spcBef>
                <a:spcPts val="1000"/>
              </a:spcBef>
              <a:defRPr>
                <a:latin typeface="Arial" panose="020B0604020202020204" pitchFamily="34" charset="0"/>
                <a:cs typeface="Arial" panose="020B0604020202020204" pitchFamily="34" charset="0"/>
              </a:defRPr>
            </a:lvl4pPr>
            <a:lvl5pPr>
              <a:lnSpc>
                <a:spcPct val="110000"/>
              </a:lnSpc>
              <a:spcBef>
                <a:spcPts val="1000"/>
              </a:spcBef>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5/1/2026</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7" name="Rectangle 6"/>
          <p:cNvSpPr/>
          <p:nvPr userDrawn="1"/>
        </p:nvSpPr>
        <p:spPr>
          <a:xfrm>
            <a:off x="-10048" y="6265545"/>
            <a:ext cx="12202048" cy="601701"/>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2" name="TextBox 11">
            <a:extLst>
              <a:ext uri="{FF2B5EF4-FFF2-40B4-BE49-F238E27FC236}">
                <a16:creationId xmlns:a16="http://schemas.microsoft.com/office/drawing/2014/main" id="{6C529638-9519-5646-BC6C-4C995584BC00}"/>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Arial" panose="020B0604020202020204" pitchFamily="34" charset="0"/>
                <a:ea typeface="Gotham Bold" charset="0"/>
                <a:cs typeface="Arial" panose="020B0604020202020204" pitchFamily="34" charset="0"/>
              </a:rPr>
              <a:t>MINES</a:t>
            </a:r>
            <a:r>
              <a:rPr lang="en-US" sz="1800" b="1" i="0" dirty="0">
                <a:solidFill>
                  <a:srgbClr val="D2492A"/>
                </a:solidFill>
                <a:latin typeface="Arial" panose="020B0604020202020204" pitchFamily="34" charset="0"/>
                <a:ea typeface="Gotham Bold" charset="0"/>
                <a:cs typeface="Arial" panose="020B0604020202020204" pitchFamily="34" charset="0"/>
              </a:rPr>
              <a:t>.</a:t>
            </a:r>
            <a:r>
              <a:rPr lang="en-US" sz="1800" b="0" i="0" dirty="0">
                <a:solidFill>
                  <a:srgbClr val="92A2BD"/>
                </a:solidFill>
                <a:latin typeface="Arial" panose="020B0604020202020204" pitchFamily="34" charset="0"/>
                <a:ea typeface="Gotham Book" charset="0"/>
                <a:cs typeface="Arial" panose="020B0604020202020204" pitchFamily="34" charset="0"/>
              </a:rPr>
              <a:t>EDU</a:t>
            </a:r>
          </a:p>
        </p:txBody>
      </p:sp>
      <p:pic>
        <p:nvPicPr>
          <p:cNvPr id="9" name="Picture 8">
            <a:extLst>
              <a:ext uri="{FF2B5EF4-FFF2-40B4-BE49-F238E27FC236}">
                <a16:creationId xmlns:a16="http://schemas.microsoft.com/office/drawing/2014/main" id="{A6189CE5-3B4F-9290-A094-E256477AE255}"/>
              </a:ext>
            </a:extLst>
          </p:cNvPr>
          <p:cNvPicPr/>
          <p:nvPr userDrawn="1"/>
        </p:nvPicPr>
        <p:blipFill>
          <a:blip r:embed="rId2"/>
          <a:srcRect/>
          <a:stretch/>
        </p:blipFill>
        <p:spPr bwMode="auto">
          <a:xfrm>
            <a:off x="206066" y="6280773"/>
            <a:ext cx="4447184" cy="54172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676384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lvl1pPr>
              <a:defRPr>
                <a:solidFill>
                  <a:srgbClr val="21314D"/>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lvl1pPr>
              <a:lnSpc>
                <a:spcPct val="110000"/>
              </a:lnSpc>
              <a:spcBef>
                <a:spcPts val="1000"/>
              </a:spcBef>
              <a:defRPr>
                <a:latin typeface="Arial" panose="020B0604020202020204" pitchFamily="34" charset="0"/>
                <a:cs typeface="Arial" panose="020B0604020202020204" pitchFamily="34" charset="0"/>
              </a:defRPr>
            </a:lvl1pPr>
            <a:lvl2pPr>
              <a:lnSpc>
                <a:spcPct val="110000"/>
              </a:lnSpc>
              <a:spcBef>
                <a:spcPts val="1000"/>
              </a:spcBef>
              <a:defRPr>
                <a:latin typeface="Arial" panose="020B0604020202020204" pitchFamily="34" charset="0"/>
                <a:cs typeface="Arial" panose="020B0604020202020204" pitchFamily="34" charset="0"/>
              </a:defRPr>
            </a:lvl2pPr>
            <a:lvl3pPr>
              <a:lnSpc>
                <a:spcPct val="110000"/>
              </a:lnSpc>
              <a:spcBef>
                <a:spcPts val="1000"/>
              </a:spcBef>
              <a:defRPr>
                <a:latin typeface="Arial" panose="020B0604020202020204" pitchFamily="34" charset="0"/>
                <a:cs typeface="Arial" panose="020B0604020202020204" pitchFamily="34" charset="0"/>
              </a:defRPr>
            </a:lvl3pPr>
            <a:lvl4pPr>
              <a:lnSpc>
                <a:spcPct val="110000"/>
              </a:lnSpc>
              <a:spcBef>
                <a:spcPts val="1000"/>
              </a:spcBef>
              <a:defRPr>
                <a:latin typeface="Arial" panose="020B0604020202020204" pitchFamily="34" charset="0"/>
                <a:cs typeface="Arial" panose="020B0604020202020204" pitchFamily="34" charset="0"/>
              </a:defRPr>
            </a:lvl4pPr>
            <a:lvl5pPr>
              <a:lnSpc>
                <a:spcPct val="110000"/>
              </a:lnSpc>
              <a:spcBef>
                <a:spcPts val="1000"/>
              </a:spcBef>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5/1/2026</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7" name="Rectangle 6"/>
          <p:cNvSpPr/>
          <p:nvPr userDrawn="1"/>
        </p:nvSpPr>
        <p:spPr>
          <a:xfrm>
            <a:off x="-10048" y="6265545"/>
            <a:ext cx="12202048" cy="601701"/>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2" name="TextBox 11">
            <a:extLst>
              <a:ext uri="{FF2B5EF4-FFF2-40B4-BE49-F238E27FC236}">
                <a16:creationId xmlns:a16="http://schemas.microsoft.com/office/drawing/2014/main" id="{1C06899B-D311-B446-8DBB-7D61E82846C1}"/>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Arial" panose="020B0604020202020204" pitchFamily="34" charset="0"/>
                <a:ea typeface="Gotham Bold" charset="0"/>
                <a:cs typeface="Arial" panose="020B0604020202020204" pitchFamily="34" charset="0"/>
              </a:rPr>
              <a:t>MINES</a:t>
            </a:r>
            <a:r>
              <a:rPr lang="en-US" sz="1800" b="1" i="0" dirty="0">
                <a:solidFill>
                  <a:srgbClr val="D2492A"/>
                </a:solidFill>
                <a:latin typeface="Arial" panose="020B0604020202020204" pitchFamily="34" charset="0"/>
                <a:ea typeface="Gotham Bold" charset="0"/>
                <a:cs typeface="Arial" panose="020B0604020202020204" pitchFamily="34" charset="0"/>
              </a:rPr>
              <a:t>.</a:t>
            </a:r>
            <a:r>
              <a:rPr lang="en-US" sz="1800" b="0" i="0" dirty="0">
                <a:solidFill>
                  <a:srgbClr val="92A2BD"/>
                </a:solidFill>
                <a:latin typeface="Arial" panose="020B0604020202020204" pitchFamily="34" charset="0"/>
                <a:ea typeface="Gotham Book" charset="0"/>
                <a:cs typeface="Arial" panose="020B0604020202020204" pitchFamily="34" charset="0"/>
              </a:rPr>
              <a:t>EDU</a:t>
            </a:r>
          </a:p>
        </p:txBody>
      </p:sp>
      <p:pic>
        <p:nvPicPr>
          <p:cNvPr id="9" name="Picture 8">
            <a:extLst>
              <a:ext uri="{FF2B5EF4-FFF2-40B4-BE49-F238E27FC236}">
                <a16:creationId xmlns:a16="http://schemas.microsoft.com/office/drawing/2014/main" id="{860BE653-895E-393E-A5A0-0F7158B8B6A5}"/>
              </a:ext>
            </a:extLst>
          </p:cNvPr>
          <p:cNvPicPr/>
          <p:nvPr userDrawn="1"/>
        </p:nvPicPr>
        <p:blipFill>
          <a:blip r:embed="rId2"/>
          <a:srcRect/>
          <a:stretch/>
        </p:blipFill>
        <p:spPr bwMode="auto">
          <a:xfrm>
            <a:off x="206066" y="6280773"/>
            <a:ext cx="4447184" cy="54172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814847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57347766"/>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2" r:id="rId4"/>
    <p:sldLayoutId id="2147483653" r:id="rId5"/>
    <p:sldLayoutId id="2147483654" r:id="rId6"/>
    <p:sldLayoutId id="2147483655" r:id="rId7"/>
    <p:sldLayoutId id="2147483661" r:id="rId8"/>
    <p:sldLayoutId id="2147483660" r:id="rId9"/>
    <p:sldLayoutId id="2147483656" r:id="rId10"/>
    <p:sldLayoutId id="2147483657" r:id="rId11"/>
    <p:sldLayoutId id="2147483658" r:id="rId12"/>
    <p:sldLayoutId id="2147483659" r:id="rId13"/>
  </p:sldLayoutIdLst>
  <p:txStyles>
    <p:titleStyle>
      <a:lvl1pPr algn="l" defTabSz="914377" rtl="0" eaLnBrk="1" latinLnBrk="0" hangingPunct="1">
        <a:lnSpc>
          <a:spcPct val="90000"/>
        </a:lnSpc>
        <a:spcBef>
          <a:spcPct val="0"/>
        </a:spcBef>
        <a:buNone/>
        <a:defRPr sz="4400" b="1" i="0" kern="1200">
          <a:solidFill>
            <a:srgbClr val="21314D"/>
          </a:solidFill>
          <a:latin typeface="Arial" panose="020B0604020202020204" pitchFamily="34" charset="0"/>
          <a:ea typeface="Arial" panose="020B0604020202020204" pitchFamily="34" charset="0"/>
          <a:cs typeface="Arial" panose="020B0604020202020204" pitchFamily="34" charset="0"/>
        </a:defRPr>
      </a:lvl1pPr>
    </p:titleStyle>
    <p:bodyStyle>
      <a:lvl1pPr marL="228594" indent="-228594" algn="l" defTabSz="914377" rtl="0" eaLnBrk="1" latinLnBrk="0" hangingPunct="1">
        <a:lnSpc>
          <a:spcPct val="110000"/>
        </a:lnSpc>
        <a:spcBef>
          <a:spcPts val="1000"/>
        </a:spcBef>
        <a:buFont typeface="Arial"/>
        <a:buChar char="•"/>
        <a:defRPr sz="2800" b="0" i="0" kern="1200">
          <a:solidFill>
            <a:schemeClr val="tx1"/>
          </a:solidFill>
          <a:latin typeface="Arial" panose="020B0604020202020204" pitchFamily="34" charset="0"/>
          <a:ea typeface="Arial" panose="020B0604020202020204" pitchFamily="34" charset="0"/>
          <a:cs typeface="Arial" panose="020B0604020202020204" pitchFamily="34" charset="0"/>
        </a:defRPr>
      </a:lvl1pPr>
      <a:lvl2pPr marL="685783" indent="-228594" algn="l" defTabSz="914377" rtl="0" eaLnBrk="1" latinLnBrk="0" hangingPunct="1">
        <a:lnSpc>
          <a:spcPct val="110000"/>
        </a:lnSpc>
        <a:spcBef>
          <a:spcPts val="1000"/>
        </a:spcBef>
        <a:buFont typeface="Arial"/>
        <a:buChar char="•"/>
        <a:defRPr sz="2400" b="0" i="0" kern="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2971" indent="-228594" algn="l" defTabSz="914377" rtl="0" eaLnBrk="1" latinLnBrk="0" hangingPunct="1">
        <a:lnSpc>
          <a:spcPct val="110000"/>
        </a:lnSpc>
        <a:spcBef>
          <a:spcPts val="1000"/>
        </a:spcBef>
        <a:buFont typeface="Arial"/>
        <a:buChar char="•"/>
        <a:defRPr sz="2000" b="0" i="0" kern="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160" indent="-228594" algn="l" defTabSz="914377" rtl="0" eaLnBrk="1" latinLnBrk="0" hangingPunct="1">
        <a:lnSpc>
          <a:spcPct val="110000"/>
        </a:lnSpc>
        <a:spcBef>
          <a:spcPts val="1000"/>
        </a:spcBef>
        <a:buFont typeface="Arial"/>
        <a:buChar char="•"/>
        <a:defRPr sz="1800" b="0" i="0" kern="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349" indent="-228594" algn="l" defTabSz="914377" rtl="0" eaLnBrk="1" latinLnBrk="0" hangingPunct="1">
        <a:lnSpc>
          <a:spcPct val="110000"/>
        </a:lnSpc>
        <a:spcBef>
          <a:spcPts val="1000"/>
        </a:spcBef>
        <a:buFont typeface="Arial"/>
        <a:buChar char="•"/>
        <a:defRPr sz="1800" b="0" i="0" kern="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537"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5371" y="2243579"/>
            <a:ext cx="8664867" cy="719056"/>
          </a:xfrm>
        </p:spPr>
        <p:txBody>
          <a:bodyPr>
            <a:normAutofit/>
          </a:bodyPr>
          <a:lstStyle/>
          <a:p>
            <a:r>
              <a:rPr lang="en-US" dirty="0"/>
              <a:t>Whillans Ice Sheet Velocity</a:t>
            </a:r>
          </a:p>
        </p:txBody>
      </p:sp>
      <p:sp>
        <p:nvSpPr>
          <p:cNvPr id="3" name="Subtitle 2"/>
          <p:cNvSpPr>
            <a:spLocks noGrp="1"/>
          </p:cNvSpPr>
          <p:nvPr>
            <p:ph type="subTitle" idx="1"/>
          </p:nvPr>
        </p:nvSpPr>
        <p:spPr/>
        <p:txBody>
          <a:bodyPr/>
          <a:lstStyle/>
          <a:p>
            <a:r>
              <a:rPr lang="en-US" dirty="0"/>
              <a:t>5/3/2026</a:t>
            </a:r>
          </a:p>
          <a:p>
            <a:r>
              <a:rPr lang="en-US" dirty="0"/>
              <a:t>Kaitlyn Sanchez, Kadidia Mariko, Emilia Orta </a:t>
            </a:r>
          </a:p>
        </p:txBody>
      </p:sp>
    </p:spTree>
    <p:extLst>
      <p:ext uri="{BB962C8B-B14F-4D97-AF65-F5344CB8AC3E}">
        <p14:creationId xmlns:p14="http://schemas.microsoft.com/office/powerpoint/2010/main" val="20188887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62F09-57F1-F4DC-BA06-74F4EF24B5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254878-DD2A-7934-A3A9-8DB6E3A0101D}"/>
              </a:ext>
            </a:extLst>
          </p:cNvPr>
          <p:cNvSpPr>
            <a:spLocks noGrp="1"/>
          </p:cNvSpPr>
          <p:nvPr>
            <p:ph type="title"/>
          </p:nvPr>
        </p:nvSpPr>
        <p:spPr>
          <a:xfrm>
            <a:off x="636332" y="108706"/>
            <a:ext cx="10789039" cy="842056"/>
          </a:xfrm>
        </p:spPr>
        <p:txBody>
          <a:bodyPr/>
          <a:lstStyle/>
          <a:p>
            <a:pPr algn="ctr"/>
            <a:r>
              <a:rPr lang="en-US" dirty="0"/>
              <a:t>Introduction</a:t>
            </a:r>
          </a:p>
        </p:txBody>
      </p:sp>
      <p:sp>
        <p:nvSpPr>
          <p:cNvPr id="3" name="Text Placeholder 2">
            <a:extLst>
              <a:ext uri="{FF2B5EF4-FFF2-40B4-BE49-F238E27FC236}">
                <a16:creationId xmlns:a16="http://schemas.microsoft.com/office/drawing/2014/main" id="{3B1A08BE-3A86-DABF-EECC-89C8AB2707C3}"/>
              </a:ext>
            </a:extLst>
          </p:cNvPr>
          <p:cNvSpPr>
            <a:spLocks noGrp="1"/>
          </p:cNvSpPr>
          <p:nvPr>
            <p:ph type="body" idx="1"/>
          </p:nvPr>
        </p:nvSpPr>
        <p:spPr>
          <a:xfrm>
            <a:off x="831851" y="1263409"/>
            <a:ext cx="10515600" cy="4826244"/>
          </a:xfrm>
        </p:spPr>
        <p:txBody>
          <a:bodyPr>
            <a:normAutofit/>
          </a:bodyPr>
          <a:lstStyle/>
          <a:p>
            <a:r>
              <a:rPr lang="en-US" dirty="0"/>
              <a:t> </a:t>
            </a:r>
          </a:p>
        </p:txBody>
      </p:sp>
      <p:sp>
        <p:nvSpPr>
          <p:cNvPr id="5" name="TextBox 4">
            <a:extLst>
              <a:ext uri="{FF2B5EF4-FFF2-40B4-BE49-F238E27FC236}">
                <a16:creationId xmlns:a16="http://schemas.microsoft.com/office/drawing/2014/main" id="{D9CCE0F1-F300-F2C4-1C3A-FC528CE415DE}"/>
              </a:ext>
            </a:extLst>
          </p:cNvPr>
          <p:cNvSpPr txBox="1"/>
          <p:nvPr/>
        </p:nvSpPr>
        <p:spPr>
          <a:xfrm>
            <a:off x="6578752" y="1341686"/>
            <a:ext cx="4781397" cy="4031873"/>
          </a:xfrm>
          <a:prstGeom prst="rect">
            <a:avLst/>
          </a:prstGeom>
          <a:noFill/>
        </p:spPr>
        <p:txBody>
          <a:bodyPr wrap="square">
            <a:spAutoFit/>
          </a:bodyPr>
          <a:lstStyle/>
          <a:p>
            <a:pPr marL="285750" indent="-285750">
              <a:buFont typeface="Arial" panose="020B0604020202020204" pitchFamily="34" charset="0"/>
              <a:buChar char="•"/>
            </a:pPr>
            <a:r>
              <a:rPr lang="en-US" sz="1600" dirty="0">
                <a:solidFill>
                  <a:schemeClr val="bg1"/>
                </a:solidFill>
                <a:latin typeface="Arial" panose="020B0604020202020204" pitchFamily="34" charset="0"/>
                <a:cs typeface="Arial" panose="020B0604020202020204" pitchFamily="34" charset="0"/>
              </a:rPr>
              <a:t>Whillans Ice Plain is a tidally-paced stick-slip ice stream in West Antarctica</a:t>
            </a:r>
          </a:p>
          <a:p>
            <a:pPr marL="285750" indent="-285750">
              <a:buFont typeface="Arial" panose="020B0604020202020204" pitchFamily="34" charset="0"/>
              <a:buChar char="•"/>
            </a:pPr>
            <a:endParaRPr lang="en-US" sz="1600" dirty="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solidFill>
                  <a:schemeClr val="bg1"/>
                </a:solidFill>
                <a:latin typeface="Arial" panose="020B0604020202020204" pitchFamily="34" charset="0"/>
                <a:cs typeface="Arial" panose="020B0604020202020204" pitchFamily="34" charset="0"/>
              </a:rPr>
              <a:t>Ice sheet is either grounded or floating</a:t>
            </a:r>
          </a:p>
          <a:p>
            <a:pPr marL="285750" indent="-285750">
              <a:buFont typeface="Arial" panose="020B0604020202020204" pitchFamily="34" charset="0"/>
              <a:buChar char="•"/>
            </a:pPr>
            <a:endParaRPr lang="en-US" sz="1600" dirty="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solidFill>
                  <a:schemeClr val="bg1"/>
                </a:solidFill>
                <a:latin typeface="Arial" panose="020B0604020202020204" pitchFamily="34" charset="0"/>
                <a:cs typeface="Arial" panose="020B0604020202020204" pitchFamily="34" charset="0"/>
              </a:rPr>
              <a:t>Movement comes from stick-slip events (12 or 24 hours)</a:t>
            </a:r>
          </a:p>
          <a:p>
            <a:endParaRPr lang="en-US" sz="1600" dirty="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solidFill>
                  <a:schemeClr val="bg1"/>
                </a:solidFill>
                <a:latin typeface="Arial" panose="020B0604020202020204" pitchFamily="34" charset="0"/>
                <a:cs typeface="Arial" panose="020B0604020202020204" pitchFamily="34" charset="0"/>
              </a:rPr>
              <a:t>Each slip event displaces the ice about 0.5m</a:t>
            </a:r>
          </a:p>
          <a:p>
            <a:endParaRPr lang="en-US" sz="1600" dirty="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solidFill>
                  <a:schemeClr val="bg1"/>
                </a:solidFill>
                <a:latin typeface="Arial" panose="020B0604020202020204" pitchFamily="34" charset="0"/>
                <a:cs typeface="Arial" panose="020B0604020202020204" pitchFamily="34" charset="0"/>
              </a:rPr>
              <a:t>As it moves from grounded to floating, it is contributing to sea-level rise </a:t>
            </a:r>
          </a:p>
          <a:p>
            <a:endParaRPr lang="en-US" sz="1600" dirty="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solidFill>
                  <a:schemeClr val="bg1"/>
                </a:solidFill>
                <a:latin typeface="Arial" panose="020B0604020202020204" pitchFamily="34" charset="0"/>
                <a:cs typeface="Arial" panose="020B0604020202020204" pitchFamily="34" charset="0"/>
              </a:rPr>
              <a:t>There are indicators that the ice stream may be slowing over time, which affects the mass balance of the ice sheet </a:t>
            </a:r>
          </a:p>
        </p:txBody>
      </p:sp>
      <p:pic>
        <p:nvPicPr>
          <p:cNvPr id="2052" name="Picture 4">
            <a:extLst>
              <a:ext uri="{FF2B5EF4-FFF2-40B4-BE49-F238E27FC236}">
                <a16:creationId xmlns:a16="http://schemas.microsoft.com/office/drawing/2014/main" id="{1B6D5BEE-2D44-BEE5-2D74-6C2719BACB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851" y="1263409"/>
            <a:ext cx="4934810" cy="4117042"/>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2">
            <a:extLst>
              <a:ext uri="{FF2B5EF4-FFF2-40B4-BE49-F238E27FC236}">
                <a16:creationId xmlns:a16="http://schemas.microsoft.com/office/drawing/2014/main" id="{B3A5C5D4-B7BF-B18F-3A92-0BC6AE59C920}"/>
              </a:ext>
            </a:extLst>
          </p:cNvPr>
          <p:cNvSpPr txBox="1">
            <a:spLocks/>
          </p:cNvSpPr>
          <p:nvPr/>
        </p:nvSpPr>
        <p:spPr>
          <a:xfrm>
            <a:off x="713450" y="5481876"/>
            <a:ext cx="4781397" cy="422443"/>
          </a:xfrm>
          <a:prstGeom prst="rect">
            <a:avLst/>
          </a:prstGeom>
        </p:spPr>
        <p:txBody>
          <a:bodyPr vert="horz" lIns="91440" tIns="45720" rIns="91440" bIns="45720" rtlCol="0">
            <a:normAutofit/>
          </a:bodyPr>
          <a:lstStyle>
            <a:lvl1pPr marL="0" indent="0" algn="l" defTabSz="914377" rtl="0" eaLnBrk="1" latinLnBrk="0" hangingPunct="1">
              <a:lnSpc>
                <a:spcPct val="110000"/>
              </a:lnSpc>
              <a:spcBef>
                <a:spcPts val="1000"/>
              </a:spcBef>
              <a:buFont typeface="Arial"/>
              <a:buNone/>
              <a:defRPr sz="2400" b="0" i="0" kern="1200">
                <a:solidFill>
                  <a:srgbClr val="92A2BD"/>
                </a:solidFill>
                <a:latin typeface="Arial" panose="020B0604020202020204" pitchFamily="34" charset="0"/>
                <a:ea typeface="Arial" panose="020B0604020202020204" pitchFamily="34" charset="0"/>
                <a:cs typeface="Arial" panose="020B0604020202020204" pitchFamily="34" charset="0"/>
              </a:defRPr>
            </a:lvl1pPr>
            <a:lvl2pPr marL="457189" indent="0" algn="l" defTabSz="914377" rtl="0" eaLnBrk="1" latinLnBrk="0" hangingPunct="1">
              <a:lnSpc>
                <a:spcPct val="110000"/>
              </a:lnSpc>
              <a:spcBef>
                <a:spcPts val="1000"/>
              </a:spcBef>
              <a:buFont typeface="Arial"/>
              <a:buNone/>
              <a:defRPr sz="2000" b="0" i="0" kern="1200">
                <a:solidFill>
                  <a:schemeClr val="tx1">
                    <a:tint val="75000"/>
                  </a:schemeClr>
                </a:solidFill>
                <a:latin typeface="Arial" panose="020B0604020202020204" pitchFamily="34" charset="0"/>
                <a:ea typeface="Arial" panose="020B0604020202020204" pitchFamily="34" charset="0"/>
                <a:cs typeface="Arial" panose="020B0604020202020204" pitchFamily="34" charset="0"/>
              </a:defRPr>
            </a:lvl2pPr>
            <a:lvl3pPr marL="914377" indent="0" algn="l" defTabSz="914377" rtl="0" eaLnBrk="1" latinLnBrk="0" hangingPunct="1">
              <a:lnSpc>
                <a:spcPct val="110000"/>
              </a:lnSpc>
              <a:spcBef>
                <a:spcPts val="1000"/>
              </a:spcBef>
              <a:buFont typeface="Arial"/>
              <a:buNone/>
              <a:defRPr sz="1800" b="0" i="0" kern="1200">
                <a:solidFill>
                  <a:schemeClr val="tx1">
                    <a:tint val="75000"/>
                  </a:schemeClr>
                </a:solidFill>
                <a:latin typeface="Arial" panose="020B0604020202020204" pitchFamily="34" charset="0"/>
                <a:ea typeface="Arial" panose="020B0604020202020204" pitchFamily="34" charset="0"/>
                <a:cs typeface="Arial" panose="020B0604020202020204" pitchFamily="34" charset="0"/>
              </a:defRPr>
            </a:lvl3pPr>
            <a:lvl4pPr marL="1371566" indent="0" algn="l" defTabSz="914377" rtl="0" eaLnBrk="1" latinLnBrk="0" hangingPunct="1">
              <a:lnSpc>
                <a:spcPct val="110000"/>
              </a:lnSpc>
              <a:spcBef>
                <a:spcPts val="1000"/>
              </a:spcBef>
              <a:buFont typeface="Arial"/>
              <a:buNone/>
              <a:defRPr sz="1600" b="0" i="0" kern="1200">
                <a:solidFill>
                  <a:schemeClr val="tx1">
                    <a:tint val="75000"/>
                  </a:schemeClr>
                </a:solidFill>
                <a:latin typeface="Arial" panose="020B0604020202020204" pitchFamily="34" charset="0"/>
                <a:ea typeface="Arial" panose="020B0604020202020204" pitchFamily="34" charset="0"/>
                <a:cs typeface="Arial" panose="020B0604020202020204" pitchFamily="34" charset="0"/>
              </a:defRPr>
            </a:lvl4pPr>
            <a:lvl5pPr marL="1828754" indent="0" algn="l" defTabSz="914377" rtl="0" eaLnBrk="1" latinLnBrk="0" hangingPunct="1">
              <a:lnSpc>
                <a:spcPct val="110000"/>
              </a:lnSpc>
              <a:spcBef>
                <a:spcPts val="1000"/>
              </a:spcBef>
              <a:buFont typeface="Arial"/>
              <a:buNone/>
              <a:defRPr sz="1600" b="0" i="0" kern="1200">
                <a:solidFill>
                  <a:schemeClr val="tx1">
                    <a:tint val="75000"/>
                  </a:schemeClr>
                </a:solidFill>
                <a:latin typeface="Arial" panose="020B0604020202020204" pitchFamily="34" charset="0"/>
                <a:ea typeface="Arial" panose="020B0604020202020204" pitchFamily="34" charset="0"/>
                <a:cs typeface="Arial" panose="020B0604020202020204" pitchFamily="34" charset="0"/>
              </a:defRPr>
            </a:lvl5pPr>
            <a:lvl6pPr marL="2285943" indent="0" algn="l" defTabSz="914377"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131" indent="0" algn="l" defTabSz="914377"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320" indent="0" algn="l" defTabSz="914377"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509" indent="0" algn="l" defTabSz="914377"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r>
              <a:rPr lang="en-US" sz="1500" dirty="0"/>
              <a:t> </a:t>
            </a:r>
            <a:r>
              <a:rPr lang="en-US" sz="1500" dirty="0">
                <a:solidFill>
                  <a:schemeClr val="bg1"/>
                </a:solidFill>
              </a:rPr>
              <a:t>[Carter et al. 2017]</a:t>
            </a:r>
          </a:p>
          <a:p>
            <a:endParaRPr lang="en-US" dirty="0"/>
          </a:p>
        </p:txBody>
      </p:sp>
    </p:spTree>
    <p:extLst>
      <p:ext uri="{BB962C8B-B14F-4D97-AF65-F5344CB8AC3E}">
        <p14:creationId xmlns:p14="http://schemas.microsoft.com/office/powerpoint/2010/main" val="1710442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F444B-842B-6D44-F8E9-D5045F994B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1B8232-8B55-A36B-A924-C8B86E1BA15D}"/>
              </a:ext>
            </a:extLst>
          </p:cNvPr>
          <p:cNvSpPr>
            <a:spLocks noGrp="1"/>
          </p:cNvSpPr>
          <p:nvPr>
            <p:ph type="title"/>
          </p:nvPr>
        </p:nvSpPr>
        <p:spPr>
          <a:xfrm>
            <a:off x="636332" y="108706"/>
            <a:ext cx="10789039" cy="842056"/>
          </a:xfrm>
        </p:spPr>
        <p:txBody>
          <a:bodyPr/>
          <a:lstStyle/>
          <a:p>
            <a:pPr algn="ctr"/>
            <a:r>
              <a:rPr lang="en-US" dirty="0"/>
              <a:t>Research Questions</a:t>
            </a:r>
          </a:p>
        </p:txBody>
      </p:sp>
      <p:sp>
        <p:nvSpPr>
          <p:cNvPr id="5" name="TextBox 4">
            <a:extLst>
              <a:ext uri="{FF2B5EF4-FFF2-40B4-BE49-F238E27FC236}">
                <a16:creationId xmlns:a16="http://schemas.microsoft.com/office/drawing/2014/main" id="{FF0C7B49-9898-7081-623F-B1F013AE43A1}"/>
              </a:ext>
            </a:extLst>
          </p:cNvPr>
          <p:cNvSpPr txBox="1"/>
          <p:nvPr/>
        </p:nvSpPr>
        <p:spPr>
          <a:xfrm>
            <a:off x="636331" y="1998928"/>
            <a:ext cx="11292749" cy="2677656"/>
          </a:xfrm>
          <a:prstGeom prst="rect">
            <a:avLst/>
          </a:prstGeom>
          <a:noFill/>
        </p:spPr>
        <p:txBody>
          <a:bodyPr wrap="square">
            <a:spAutoFit/>
          </a:bodyPr>
          <a:lstStyle/>
          <a:p>
            <a:pPr marL="285750" indent="-285750">
              <a:buFont typeface="Arial" panose="020B0604020202020204" pitchFamily="34" charset="0"/>
              <a:buChar char="•"/>
            </a:pPr>
            <a:r>
              <a:rPr lang="en-US" sz="2400" b="1" dirty="0">
                <a:solidFill>
                  <a:schemeClr val="bg1"/>
                </a:solidFill>
                <a:latin typeface="Arial" panose="020B0604020202020204" pitchFamily="34" charset="0"/>
                <a:cs typeface="Arial" panose="020B0604020202020204" pitchFamily="34" charset="0"/>
              </a:rPr>
              <a:t>How does the ice sheet velocity vary across Whillans Ice Plain on a decadal time scale?</a:t>
            </a:r>
          </a:p>
          <a:p>
            <a:pPr marL="285750" indent="-285750">
              <a:buFont typeface="Arial" panose="020B0604020202020204" pitchFamily="34" charset="0"/>
              <a:buChar char="•"/>
            </a:pPr>
            <a:endParaRPr lang="en-US" sz="2400" dirty="0">
              <a:solidFill>
                <a:schemeClr val="bg1"/>
              </a:solidFill>
              <a:latin typeface="Arial" panose="020B0604020202020204" pitchFamily="34" charset="0"/>
              <a:cs typeface="Arial" panose="020B0604020202020204" pitchFamily="34" charset="0"/>
            </a:endParaRPr>
          </a:p>
          <a:p>
            <a:endParaRPr lang="en-US" sz="2400" dirty="0">
              <a:solidFill>
                <a:schemeClr val="bg1"/>
              </a:solidFill>
              <a:latin typeface="Arial" panose="020B0604020202020204" pitchFamily="34" charset="0"/>
              <a:cs typeface="Arial" panose="020B0604020202020204" pitchFamily="34" charset="0"/>
            </a:endParaRPr>
          </a:p>
          <a:p>
            <a:pPr lvl="1"/>
            <a:endParaRPr lang="en-US" sz="2400" dirty="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400" b="1" dirty="0">
                <a:solidFill>
                  <a:schemeClr val="bg1"/>
                </a:solidFill>
                <a:latin typeface="Arial" panose="020B0604020202020204" pitchFamily="34" charset="0"/>
                <a:cs typeface="Arial" panose="020B0604020202020204" pitchFamily="34" charset="0"/>
              </a:rPr>
              <a:t>How is the temporal variation in ice sheet velocity correlated to the amount of 12 versus 24-hour slip events that occur? </a:t>
            </a:r>
            <a:endParaRPr lang="en-US" sz="2400" b="1" dirty="0">
              <a:solidFill>
                <a:schemeClr val="bg1"/>
              </a:solidFill>
            </a:endParaRPr>
          </a:p>
        </p:txBody>
      </p:sp>
    </p:spTree>
    <p:extLst>
      <p:ext uri="{BB962C8B-B14F-4D97-AF65-F5344CB8AC3E}">
        <p14:creationId xmlns:p14="http://schemas.microsoft.com/office/powerpoint/2010/main" val="3497227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0F8DC-C026-E1FC-7C90-1AC886A519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DF6415-7F68-7621-ABFB-FF984732ADA0}"/>
              </a:ext>
            </a:extLst>
          </p:cNvPr>
          <p:cNvSpPr>
            <a:spLocks noGrp="1"/>
          </p:cNvSpPr>
          <p:nvPr>
            <p:ph type="title"/>
          </p:nvPr>
        </p:nvSpPr>
        <p:spPr>
          <a:xfrm>
            <a:off x="831851" y="79457"/>
            <a:ext cx="10789039" cy="842056"/>
          </a:xfrm>
        </p:spPr>
        <p:txBody>
          <a:bodyPr/>
          <a:lstStyle/>
          <a:p>
            <a:pPr algn="ctr"/>
            <a:r>
              <a:rPr lang="en-US" dirty="0"/>
              <a:t>Dataset &amp; Challenges</a:t>
            </a:r>
          </a:p>
        </p:txBody>
      </p:sp>
      <p:sp>
        <p:nvSpPr>
          <p:cNvPr id="3" name="Text Placeholder 2">
            <a:extLst>
              <a:ext uri="{FF2B5EF4-FFF2-40B4-BE49-F238E27FC236}">
                <a16:creationId xmlns:a16="http://schemas.microsoft.com/office/drawing/2014/main" id="{1BC570FC-FB87-7054-45CD-2D59ED2C9721}"/>
              </a:ext>
            </a:extLst>
          </p:cNvPr>
          <p:cNvSpPr>
            <a:spLocks noGrp="1"/>
          </p:cNvSpPr>
          <p:nvPr>
            <p:ph type="body" idx="1"/>
          </p:nvPr>
        </p:nvSpPr>
        <p:spPr>
          <a:xfrm>
            <a:off x="831851" y="1263409"/>
            <a:ext cx="10515600" cy="4826244"/>
          </a:xfrm>
        </p:spPr>
        <p:txBody>
          <a:bodyPr>
            <a:normAutofit/>
          </a:bodyPr>
          <a:lstStyle/>
          <a:p>
            <a:r>
              <a:rPr lang="en-US" dirty="0"/>
              <a:t> </a:t>
            </a:r>
          </a:p>
        </p:txBody>
      </p:sp>
      <p:sp>
        <p:nvSpPr>
          <p:cNvPr id="4" name="TextBox 3">
            <a:extLst>
              <a:ext uri="{FF2B5EF4-FFF2-40B4-BE49-F238E27FC236}">
                <a16:creationId xmlns:a16="http://schemas.microsoft.com/office/drawing/2014/main" id="{56CB2EE3-5DBC-645D-3283-5627ECC38890}"/>
              </a:ext>
            </a:extLst>
          </p:cNvPr>
          <p:cNvSpPr txBox="1"/>
          <p:nvPr/>
        </p:nvSpPr>
        <p:spPr>
          <a:xfrm>
            <a:off x="699993" y="1356411"/>
            <a:ext cx="11052753" cy="3970318"/>
          </a:xfrm>
          <a:prstGeom prst="rect">
            <a:avLst/>
          </a:prstGeom>
          <a:noFill/>
        </p:spPr>
        <p:txBody>
          <a:bodyPr wrap="square">
            <a:spAutoFit/>
          </a:bodyPr>
          <a:lstStyle/>
          <a:p>
            <a:r>
              <a:rPr lang="en-US" dirty="0">
                <a:solidFill>
                  <a:schemeClr val="bg1"/>
                </a:solidFill>
                <a:ea typeface="Calibri" panose="020F0502020204030204"/>
                <a:cs typeface="Calibri" panose="020F0502020204030204"/>
              </a:rPr>
              <a:t>Dataset:</a:t>
            </a:r>
          </a:p>
          <a:p>
            <a:pPr marL="285750" indent="-285750">
              <a:buFont typeface="Arial" panose="020B0604020202020204" pitchFamily="34" charset="0"/>
              <a:buChar char="•"/>
            </a:pPr>
            <a:r>
              <a:rPr lang="en-US" dirty="0">
                <a:solidFill>
                  <a:schemeClr val="bg1"/>
                </a:solidFill>
                <a:ea typeface="Calibri" panose="020F0502020204030204"/>
                <a:cs typeface="Arial" panose="020B0604020202020204" pitchFamily="34" charset="0"/>
              </a:rPr>
              <a:t>Global Navigation Satellite System (GNSS) position data from GPS stations across Whillans Ice Plain </a:t>
            </a:r>
          </a:p>
          <a:p>
            <a:pPr marL="285750" indent="-285750">
              <a:buFont typeface="Arial" panose="020B0604020202020204" pitchFamily="34" charset="0"/>
              <a:buChar char="•"/>
            </a:pPr>
            <a:r>
              <a:rPr lang="en-US" dirty="0">
                <a:solidFill>
                  <a:schemeClr val="bg1"/>
                </a:solidFill>
                <a:ea typeface="Calibri" panose="020F0502020204030204"/>
                <a:cs typeface="Arial" panose="020B0604020202020204" pitchFamily="34" charset="0"/>
              </a:rPr>
              <a:t>Data spanning 2008-2019 and was pulled from the Zendo listed in Katz et al., 2026</a:t>
            </a:r>
          </a:p>
          <a:p>
            <a:pPr marL="285750" indent="-285750">
              <a:buFont typeface="Arial" panose="020B0604020202020204" pitchFamily="34" charset="0"/>
              <a:buChar char="•"/>
            </a:pPr>
            <a:r>
              <a:rPr lang="en-US" dirty="0">
                <a:solidFill>
                  <a:schemeClr val="bg1"/>
                </a:solidFill>
                <a:ea typeface="Calibri" panose="020F0502020204030204"/>
                <a:cs typeface="Calibri" panose="020F0502020204030204"/>
              </a:rPr>
              <a:t>Stick-Slip Event Catalog from Katz et al., 2026 </a:t>
            </a:r>
          </a:p>
          <a:p>
            <a:pPr marL="285750" indent="-285750">
              <a:buFont typeface="Arial" panose="020B0604020202020204" pitchFamily="34" charset="0"/>
              <a:buChar char="•"/>
            </a:pPr>
            <a:r>
              <a:rPr lang="en-US" dirty="0">
                <a:solidFill>
                  <a:schemeClr val="bg1"/>
                </a:solidFill>
                <a:ea typeface="Calibri" panose="020F0502020204030204"/>
                <a:cs typeface="Calibri" panose="020F0502020204030204"/>
              </a:rPr>
              <a:t>Input to our workflow: Precise Point Positioning (PPP) files </a:t>
            </a:r>
          </a:p>
          <a:p>
            <a:pPr marL="742950" lvl="1" indent="-285750">
              <a:buFont typeface="Arial" panose="020B0604020202020204" pitchFamily="34" charset="0"/>
              <a:buChar char="•"/>
            </a:pPr>
            <a:r>
              <a:rPr lang="en-US" dirty="0">
                <a:solidFill>
                  <a:schemeClr val="bg1"/>
                </a:solidFill>
                <a:ea typeface="Calibri" panose="020F0502020204030204"/>
                <a:cs typeface="Calibri" panose="020F0502020204030204"/>
              </a:rPr>
              <a:t>.pos files are text files that have calculated geographic positions (like </a:t>
            </a:r>
            <a:r>
              <a:rPr lang="en-US" dirty="0" err="1">
                <a:solidFill>
                  <a:schemeClr val="bg1"/>
                </a:solidFill>
                <a:ea typeface="Calibri" panose="020F0502020204030204"/>
                <a:cs typeface="Calibri" panose="020F0502020204030204"/>
              </a:rPr>
              <a:t>lat</a:t>
            </a:r>
            <a:r>
              <a:rPr lang="en-US" dirty="0">
                <a:solidFill>
                  <a:schemeClr val="bg1"/>
                </a:solidFill>
                <a:ea typeface="Calibri" panose="020F0502020204030204"/>
                <a:cs typeface="Calibri" panose="020F0502020204030204"/>
              </a:rPr>
              <a:t> and </a:t>
            </a:r>
            <a:r>
              <a:rPr lang="en-US" dirty="0" err="1">
                <a:solidFill>
                  <a:schemeClr val="bg1"/>
                </a:solidFill>
                <a:ea typeface="Calibri" panose="020F0502020204030204"/>
                <a:cs typeface="Calibri" panose="020F0502020204030204"/>
              </a:rPr>
              <a:t>lon</a:t>
            </a:r>
            <a:r>
              <a:rPr lang="en-US" dirty="0">
                <a:solidFill>
                  <a:schemeClr val="bg1"/>
                </a:solidFill>
                <a:ea typeface="Calibri" panose="020F0502020204030204"/>
                <a:cs typeface="Calibri" panose="020F0502020204030204"/>
              </a:rPr>
              <a:t>) from the GPS/GNSS stations over time</a:t>
            </a:r>
          </a:p>
          <a:p>
            <a:pPr lvl="1"/>
            <a:endParaRPr lang="en-US" dirty="0">
              <a:solidFill>
                <a:schemeClr val="bg1"/>
              </a:solidFill>
              <a:ea typeface="Calibri" panose="020F0502020204030204"/>
              <a:cs typeface="Calibri" panose="020F0502020204030204"/>
            </a:endParaRPr>
          </a:p>
          <a:p>
            <a:pPr lvl="1"/>
            <a:endParaRPr lang="en-US" dirty="0">
              <a:solidFill>
                <a:schemeClr val="bg1"/>
              </a:solidFill>
              <a:ea typeface="Calibri" panose="020F0502020204030204"/>
              <a:cs typeface="Calibri" panose="020F0502020204030204"/>
            </a:endParaRPr>
          </a:p>
          <a:p>
            <a:r>
              <a:rPr lang="en-US" dirty="0">
                <a:solidFill>
                  <a:schemeClr val="bg1"/>
                </a:solidFill>
                <a:ea typeface="Calibri" panose="020F0502020204030204"/>
                <a:cs typeface="Calibri" panose="020F0502020204030204"/>
              </a:rPr>
              <a:t>Challenges: </a:t>
            </a:r>
          </a:p>
          <a:p>
            <a:pPr marL="285750" indent="-285750">
              <a:buFont typeface="Arial" panose="020B0604020202020204" pitchFamily="34" charset="0"/>
              <a:buChar char="•"/>
            </a:pPr>
            <a:r>
              <a:rPr lang="en-US" dirty="0">
                <a:solidFill>
                  <a:schemeClr val="bg1"/>
                </a:solidFill>
                <a:ea typeface="Calibri" panose="020F0502020204030204"/>
                <a:cs typeface="Calibri" panose="020F0502020204030204"/>
              </a:rPr>
              <a:t>Initially tried to use ITS_LIVE but there was a gap in coverage at this location during the time of interest </a:t>
            </a:r>
          </a:p>
          <a:p>
            <a:pPr marL="285750" indent="-285750">
              <a:buFont typeface="Arial" panose="020B0604020202020204" pitchFamily="34" charset="0"/>
              <a:buChar char="•"/>
            </a:pPr>
            <a:r>
              <a:rPr lang="en-US" dirty="0">
                <a:solidFill>
                  <a:schemeClr val="bg1"/>
                </a:solidFill>
                <a:ea typeface="Calibri" panose="020F0502020204030204"/>
                <a:cs typeface="Calibri" panose="020F0502020204030204"/>
              </a:rPr>
              <a:t>The PPPs had 15 second epochs which made for noisy velocity calculations </a:t>
            </a:r>
          </a:p>
          <a:p>
            <a:pPr marL="285750" indent="-285750">
              <a:buFont typeface="Arial" panose="020B0604020202020204" pitchFamily="34" charset="0"/>
              <a:buChar char="•"/>
            </a:pPr>
            <a:r>
              <a:rPr lang="en-US" dirty="0">
                <a:solidFill>
                  <a:schemeClr val="bg1"/>
                </a:solidFill>
                <a:ea typeface="Calibri" panose="020F0502020204030204"/>
                <a:cs typeface="Calibri" panose="020F0502020204030204"/>
              </a:rPr>
              <a:t>Not all of the stations recorded for the entirety </a:t>
            </a:r>
          </a:p>
          <a:p>
            <a:endParaRPr lang="en-US" dirty="0">
              <a:solidFill>
                <a:schemeClr val="bg1"/>
              </a:solidFill>
              <a:ea typeface="Calibri" panose="020F0502020204030204"/>
              <a:cs typeface="Calibri" panose="020F0502020204030204"/>
            </a:endParaRPr>
          </a:p>
        </p:txBody>
      </p:sp>
    </p:spTree>
    <p:extLst>
      <p:ext uri="{BB962C8B-B14F-4D97-AF65-F5344CB8AC3E}">
        <p14:creationId xmlns:p14="http://schemas.microsoft.com/office/powerpoint/2010/main" val="36469267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4C464-7B68-C40C-5DD1-CA8AFA13B8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D15105-DFEA-3AB4-BE1C-9FCBFF972612}"/>
              </a:ext>
            </a:extLst>
          </p:cNvPr>
          <p:cNvSpPr>
            <a:spLocks noGrp="1"/>
          </p:cNvSpPr>
          <p:nvPr>
            <p:ph type="title"/>
          </p:nvPr>
        </p:nvSpPr>
        <p:spPr>
          <a:xfrm>
            <a:off x="430726" y="4968"/>
            <a:ext cx="10789039" cy="842056"/>
          </a:xfrm>
        </p:spPr>
        <p:txBody>
          <a:bodyPr/>
          <a:lstStyle/>
          <a:p>
            <a:pPr algn="ctr"/>
            <a:r>
              <a:rPr lang="en-US" dirty="0"/>
              <a:t>Overall Methods </a:t>
            </a:r>
          </a:p>
        </p:txBody>
      </p:sp>
      <p:sp>
        <p:nvSpPr>
          <p:cNvPr id="3" name="Text Placeholder 2">
            <a:extLst>
              <a:ext uri="{FF2B5EF4-FFF2-40B4-BE49-F238E27FC236}">
                <a16:creationId xmlns:a16="http://schemas.microsoft.com/office/drawing/2014/main" id="{24741D68-3656-D0F5-85EB-DA9098E20D11}"/>
              </a:ext>
            </a:extLst>
          </p:cNvPr>
          <p:cNvSpPr>
            <a:spLocks noGrp="1"/>
          </p:cNvSpPr>
          <p:nvPr>
            <p:ph type="body" idx="1"/>
          </p:nvPr>
        </p:nvSpPr>
        <p:spPr>
          <a:xfrm>
            <a:off x="831851" y="1263409"/>
            <a:ext cx="10515600" cy="4826244"/>
          </a:xfrm>
        </p:spPr>
        <p:txBody>
          <a:bodyPr>
            <a:normAutofit/>
          </a:bodyPr>
          <a:lstStyle/>
          <a:p>
            <a:r>
              <a:rPr lang="en-US" dirty="0"/>
              <a:t> </a:t>
            </a:r>
          </a:p>
        </p:txBody>
      </p:sp>
      <p:sp>
        <p:nvSpPr>
          <p:cNvPr id="4" name="TextBox 3">
            <a:extLst>
              <a:ext uri="{FF2B5EF4-FFF2-40B4-BE49-F238E27FC236}">
                <a16:creationId xmlns:a16="http://schemas.microsoft.com/office/drawing/2014/main" id="{979B8C9D-6549-C16B-339A-97140AC51B65}"/>
              </a:ext>
            </a:extLst>
          </p:cNvPr>
          <p:cNvSpPr txBox="1"/>
          <p:nvPr/>
        </p:nvSpPr>
        <p:spPr>
          <a:xfrm>
            <a:off x="208510" y="934559"/>
            <a:ext cx="6927484" cy="4801314"/>
          </a:xfrm>
          <a:prstGeom prst="rect">
            <a:avLst/>
          </a:prstGeom>
          <a:noFill/>
        </p:spPr>
        <p:txBody>
          <a:bodyPr wrap="square">
            <a:spAutoFit/>
          </a:bodyPr>
          <a:lstStyle/>
          <a:p>
            <a:endParaRPr lang="en-US" dirty="0">
              <a:solidFill>
                <a:schemeClr val="bg1"/>
              </a:solidFill>
              <a:ea typeface="Calibri" panose="020F0502020204030204"/>
              <a:cs typeface="Calibri" panose="020F0502020204030204"/>
            </a:endParaRPr>
          </a:p>
          <a:p>
            <a:pPr marL="285750" indent="-285750">
              <a:buFont typeface="Arial" panose="020B0604020202020204" pitchFamily="34" charset="0"/>
              <a:buChar char="•"/>
            </a:pPr>
            <a:r>
              <a:rPr lang="en-US" dirty="0" err="1">
                <a:solidFill>
                  <a:schemeClr val="bg1"/>
                </a:solidFill>
                <a:latin typeface="Arial" panose="020B0604020202020204" pitchFamily="34" charset="0"/>
                <a:ea typeface="Calibri" panose="020F0502020204030204"/>
                <a:cs typeface="Arial" panose="020B0604020202020204" pitchFamily="34" charset="0"/>
              </a:rPr>
              <a:t>Parse_one_pos</a:t>
            </a:r>
            <a:r>
              <a:rPr lang="en-US" dirty="0">
                <a:solidFill>
                  <a:schemeClr val="bg1"/>
                </a:solidFill>
                <a:latin typeface="Arial" panose="020B0604020202020204" pitchFamily="34" charset="0"/>
                <a:ea typeface="Calibri" panose="020F0502020204030204"/>
                <a:cs typeface="Arial" panose="020B0604020202020204" pitchFamily="34" charset="0"/>
              </a:rPr>
              <a:t> </a:t>
            </a:r>
          </a:p>
          <a:p>
            <a:pPr marL="742950" lvl="1" indent="-285750">
              <a:buFont typeface="Arial" panose="020B0604020202020204" pitchFamily="34" charset="0"/>
              <a:buChar char="•"/>
            </a:pPr>
            <a:r>
              <a:rPr lang="en-US" dirty="0">
                <a:solidFill>
                  <a:schemeClr val="bg1"/>
                </a:solidFill>
                <a:latin typeface="Arial" panose="020B0604020202020204" pitchFamily="34" charset="0"/>
                <a:ea typeface="Calibri" panose="020F0502020204030204"/>
                <a:cs typeface="Arial" panose="020B0604020202020204" pitchFamily="34" charset="0"/>
              </a:rPr>
              <a:t>Reads single GPS file and pulls out the forward/backward pass measurements</a:t>
            </a:r>
          </a:p>
          <a:p>
            <a:pPr marL="742950" lvl="1" indent="-285750">
              <a:buFont typeface="Arial" panose="020B0604020202020204" pitchFamily="34" charset="0"/>
              <a:buChar char="•"/>
            </a:pPr>
            <a:r>
              <a:rPr lang="en-US" dirty="0">
                <a:solidFill>
                  <a:schemeClr val="bg1"/>
                </a:solidFill>
                <a:latin typeface="Arial" panose="020B0604020202020204" pitchFamily="34" charset="0"/>
                <a:ea typeface="Calibri" panose="020F0502020204030204"/>
                <a:cs typeface="Arial" panose="020B0604020202020204" pitchFamily="34" charset="0"/>
              </a:rPr>
              <a:t>Converts coordinates from degree-minute-seconds into decimal degrees</a:t>
            </a:r>
          </a:p>
          <a:p>
            <a:pPr lvl="1"/>
            <a:endParaRPr lang="en-US" dirty="0">
              <a:solidFill>
                <a:schemeClr val="bg1"/>
              </a:solidFill>
              <a:latin typeface="Arial" panose="020B0604020202020204" pitchFamily="34" charset="0"/>
              <a:ea typeface="Calibri" panose="020F0502020204030204"/>
              <a:cs typeface="Arial" panose="020B0604020202020204" pitchFamily="34" charset="0"/>
            </a:endParaRPr>
          </a:p>
          <a:p>
            <a:pPr marL="285750" indent="-285750">
              <a:buFont typeface="Arial" panose="020B0604020202020204" pitchFamily="34" charset="0"/>
              <a:buChar char="•"/>
            </a:pPr>
            <a:r>
              <a:rPr lang="en-US" dirty="0" err="1">
                <a:solidFill>
                  <a:schemeClr val="bg1"/>
                </a:solidFill>
                <a:latin typeface="Arial" panose="020B0604020202020204" pitchFamily="34" charset="0"/>
                <a:ea typeface="Calibri" panose="020F0502020204030204"/>
                <a:cs typeface="Arial" panose="020B0604020202020204" pitchFamily="34" charset="0"/>
              </a:rPr>
              <a:t>Compute_station_velocity</a:t>
            </a:r>
            <a:r>
              <a:rPr lang="en-US" dirty="0">
                <a:solidFill>
                  <a:schemeClr val="bg1"/>
                </a:solidFill>
                <a:latin typeface="Arial" panose="020B0604020202020204" pitchFamily="34" charset="0"/>
                <a:ea typeface="Calibri" panose="020F0502020204030204"/>
                <a:cs typeface="Arial" panose="020B0604020202020204" pitchFamily="34" charset="0"/>
              </a:rPr>
              <a:t> </a:t>
            </a:r>
          </a:p>
          <a:p>
            <a:pPr marL="742950" lvl="1" indent="-285750">
              <a:buFont typeface="Arial" panose="020B0604020202020204" pitchFamily="34" charset="0"/>
              <a:buChar char="•"/>
            </a:pPr>
            <a:r>
              <a:rPr lang="en-US" dirty="0">
                <a:solidFill>
                  <a:schemeClr val="bg1"/>
                </a:solidFill>
                <a:latin typeface="Arial" panose="020B0604020202020204" pitchFamily="34" charset="0"/>
                <a:ea typeface="Calibri" panose="020F0502020204030204"/>
                <a:cs typeface="Arial" panose="020B0604020202020204" pitchFamily="34" charset="0"/>
              </a:rPr>
              <a:t>Takes all position files for one station and builds a daily velocity time series </a:t>
            </a:r>
          </a:p>
          <a:p>
            <a:pPr marL="1200150" lvl="2" indent="-285750">
              <a:buFont typeface="Arial" panose="020B0604020202020204" pitchFamily="34" charset="0"/>
              <a:buChar char="•"/>
            </a:pPr>
            <a:r>
              <a:rPr lang="en-US" dirty="0">
                <a:solidFill>
                  <a:schemeClr val="bg1"/>
                </a:solidFill>
                <a:latin typeface="Arial" panose="020B0604020202020204" pitchFamily="34" charset="0"/>
                <a:ea typeface="Calibri" panose="020F0502020204030204"/>
                <a:cs typeface="Arial" panose="020B0604020202020204" pitchFamily="34" charset="0"/>
              </a:rPr>
              <a:t>Projects </a:t>
            </a:r>
            <a:r>
              <a:rPr lang="en-US" dirty="0" err="1">
                <a:solidFill>
                  <a:schemeClr val="bg1"/>
                </a:solidFill>
                <a:latin typeface="Arial" panose="020B0604020202020204" pitchFamily="34" charset="0"/>
                <a:ea typeface="Calibri" panose="020F0502020204030204"/>
                <a:cs typeface="Arial" panose="020B0604020202020204" pitchFamily="34" charset="0"/>
              </a:rPr>
              <a:t>lat</a:t>
            </a:r>
            <a:r>
              <a:rPr lang="en-US" dirty="0">
                <a:solidFill>
                  <a:schemeClr val="bg1"/>
                </a:solidFill>
                <a:latin typeface="Arial" panose="020B0604020202020204" pitchFamily="34" charset="0"/>
                <a:ea typeface="Calibri" panose="020F0502020204030204"/>
                <a:cs typeface="Arial" panose="020B0604020202020204" pitchFamily="34" charset="0"/>
              </a:rPr>
              <a:t>/</a:t>
            </a:r>
            <a:r>
              <a:rPr lang="en-US" dirty="0" err="1">
                <a:solidFill>
                  <a:schemeClr val="bg1"/>
                </a:solidFill>
                <a:latin typeface="Arial" panose="020B0604020202020204" pitchFamily="34" charset="0"/>
                <a:ea typeface="Calibri" panose="020F0502020204030204"/>
                <a:cs typeface="Arial" panose="020B0604020202020204" pitchFamily="34" charset="0"/>
              </a:rPr>
              <a:t>lon</a:t>
            </a:r>
            <a:r>
              <a:rPr lang="en-US" dirty="0">
                <a:solidFill>
                  <a:schemeClr val="bg1"/>
                </a:solidFill>
                <a:latin typeface="Arial" panose="020B0604020202020204" pitchFamily="34" charset="0"/>
                <a:ea typeface="Calibri" panose="020F0502020204030204"/>
                <a:cs typeface="Arial" panose="020B0604020202020204" pitchFamily="34" charset="0"/>
              </a:rPr>
              <a:t> into polar stereographic meters </a:t>
            </a:r>
          </a:p>
          <a:p>
            <a:pPr marL="1200150" lvl="2" indent="-285750">
              <a:buFont typeface="Arial" panose="020B0604020202020204" pitchFamily="34" charset="0"/>
              <a:buChar char="•"/>
            </a:pPr>
            <a:r>
              <a:rPr lang="en-US" dirty="0">
                <a:solidFill>
                  <a:schemeClr val="bg1"/>
                </a:solidFill>
                <a:latin typeface="Arial" panose="020B0604020202020204" pitchFamily="34" charset="0"/>
                <a:ea typeface="Calibri" panose="020F0502020204030204"/>
                <a:cs typeface="Arial" panose="020B0604020202020204" pitchFamily="34" charset="0"/>
              </a:rPr>
              <a:t>Turns 15-second epochs into daily median positions </a:t>
            </a:r>
          </a:p>
          <a:p>
            <a:pPr marL="1657350" lvl="3" indent="-285750">
              <a:buFont typeface="Arial" panose="020B0604020202020204" pitchFamily="34" charset="0"/>
              <a:buChar char="•"/>
            </a:pPr>
            <a:r>
              <a:rPr lang="en-US" dirty="0">
                <a:solidFill>
                  <a:schemeClr val="bg1"/>
                </a:solidFill>
                <a:latin typeface="Arial" panose="020B0604020202020204" pitchFamily="34" charset="0"/>
                <a:ea typeface="Calibri" panose="020F0502020204030204"/>
                <a:cs typeface="Arial" panose="020B0604020202020204" pitchFamily="34" charset="0"/>
              </a:rPr>
              <a:t>Require 1,000 valid epochs per day </a:t>
            </a:r>
          </a:p>
          <a:p>
            <a:pPr marL="1200150" lvl="2" indent="-285750">
              <a:buFont typeface="Arial" panose="020B0604020202020204" pitchFamily="34" charset="0"/>
              <a:buChar char="•"/>
            </a:pPr>
            <a:r>
              <a:rPr lang="en-US" dirty="0">
                <a:solidFill>
                  <a:schemeClr val="bg1"/>
                </a:solidFill>
                <a:latin typeface="Arial" panose="020B0604020202020204" pitchFamily="34" charset="0"/>
                <a:ea typeface="Calibri" panose="020F0502020204030204"/>
                <a:cs typeface="Arial" panose="020B0604020202020204" pitchFamily="34" charset="0"/>
              </a:rPr>
              <a:t>Computes day-to-day displacement </a:t>
            </a:r>
          </a:p>
          <a:p>
            <a:pPr marL="1200150" lvl="2" indent="-285750">
              <a:buFont typeface="Arial" panose="020B0604020202020204" pitchFamily="34" charset="0"/>
              <a:buChar char="•"/>
            </a:pPr>
            <a:r>
              <a:rPr lang="en-US" dirty="0">
                <a:solidFill>
                  <a:schemeClr val="bg1"/>
                </a:solidFill>
                <a:latin typeface="Arial" panose="020B0604020202020204" pitchFamily="34" charset="0"/>
                <a:ea typeface="Calibri" panose="020F0502020204030204"/>
                <a:cs typeface="Arial" panose="020B0604020202020204" pitchFamily="34" charset="0"/>
              </a:rPr>
              <a:t>30-day rolling median to produce a smooth background velocity </a:t>
            </a:r>
          </a:p>
          <a:p>
            <a:endParaRPr lang="en-US" dirty="0">
              <a:solidFill>
                <a:schemeClr val="bg1"/>
              </a:solidFill>
              <a:latin typeface="Arial" panose="020B0604020202020204" pitchFamily="34" charset="0"/>
              <a:ea typeface="Calibri" panose="020F0502020204030204"/>
              <a:cs typeface="Arial" panose="020B0604020202020204" pitchFamily="34" charset="0"/>
            </a:endParaRPr>
          </a:p>
        </p:txBody>
      </p:sp>
      <p:sp>
        <p:nvSpPr>
          <p:cNvPr id="6" name="TextBox 5">
            <a:extLst>
              <a:ext uri="{FF2B5EF4-FFF2-40B4-BE49-F238E27FC236}">
                <a16:creationId xmlns:a16="http://schemas.microsoft.com/office/drawing/2014/main" id="{8A6CDEA6-61F9-4D2C-59AD-1E6170CAC670}"/>
              </a:ext>
            </a:extLst>
          </p:cNvPr>
          <p:cNvSpPr txBox="1"/>
          <p:nvPr/>
        </p:nvSpPr>
        <p:spPr>
          <a:xfrm>
            <a:off x="7135995" y="1263409"/>
            <a:ext cx="4659400" cy="3970318"/>
          </a:xfrm>
          <a:prstGeom prst="rect">
            <a:avLst/>
          </a:prstGeom>
          <a:noFill/>
        </p:spPr>
        <p:txBody>
          <a:bodyPr wrap="square">
            <a:spAutoFit/>
          </a:bodyPr>
          <a:lstStyle/>
          <a:p>
            <a:pPr marL="285750" indent="-285750">
              <a:buFont typeface="Arial" panose="020B0604020202020204" pitchFamily="34" charset="0"/>
              <a:buChar char="•"/>
            </a:pPr>
            <a:r>
              <a:rPr lang="en-US" dirty="0" err="1">
                <a:solidFill>
                  <a:schemeClr val="bg1"/>
                </a:solidFill>
                <a:latin typeface="Arial" panose="020B0604020202020204" pitchFamily="34" charset="0"/>
                <a:ea typeface="Calibri" panose="020F0502020204030204"/>
                <a:cs typeface="Arial" panose="020B0604020202020204" pitchFamily="34" charset="0"/>
              </a:rPr>
              <a:t>Build_ppp_timeseries</a:t>
            </a:r>
            <a:endParaRPr lang="en-US" dirty="0">
              <a:solidFill>
                <a:schemeClr val="bg1"/>
              </a:solidFill>
              <a:latin typeface="Arial" panose="020B0604020202020204" pitchFamily="34" charset="0"/>
              <a:ea typeface="Calibri" panose="020F0502020204030204"/>
              <a:cs typeface="Arial" panose="020B0604020202020204" pitchFamily="34" charset="0"/>
            </a:endParaRPr>
          </a:p>
          <a:p>
            <a:pPr marL="742950" lvl="1" indent="-285750">
              <a:buFont typeface="Arial" panose="020B0604020202020204" pitchFamily="34" charset="0"/>
              <a:buChar char="•"/>
            </a:pPr>
            <a:r>
              <a:rPr lang="en-US" dirty="0">
                <a:solidFill>
                  <a:schemeClr val="bg1"/>
                </a:solidFill>
                <a:latin typeface="Arial" panose="020B0604020202020204" pitchFamily="34" charset="0"/>
                <a:ea typeface="Calibri" panose="020F0502020204030204"/>
                <a:cs typeface="Arial" panose="020B0604020202020204" pitchFamily="34" charset="0"/>
              </a:rPr>
              <a:t>Loops over all 48 stations</a:t>
            </a:r>
          </a:p>
          <a:p>
            <a:pPr marL="742950" lvl="1" indent="-285750">
              <a:buFont typeface="Arial" panose="020B0604020202020204" pitchFamily="34" charset="0"/>
              <a:buChar char="•"/>
            </a:pPr>
            <a:r>
              <a:rPr lang="en-US" dirty="0">
                <a:solidFill>
                  <a:schemeClr val="bg1"/>
                </a:solidFill>
                <a:latin typeface="Arial" panose="020B0604020202020204" pitchFamily="34" charset="0"/>
                <a:ea typeface="Calibri" panose="020F0502020204030204"/>
                <a:cs typeface="Arial" panose="020B0604020202020204" pitchFamily="34" charset="0"/>
              </a:rPr>
              <a:t>Computes station velocity (using previous function) </a:t>
            </a:r>
          </a:p>
          <a:p>
            <a:pPr marL="742950" lvl="1" indent="-285750">
              <a:buFont typeface="Arial" panose="020B0604020202020204" pitchFamily="34" charset="0"/>
              <a:buChar char="•"/>
            </a:pPr>
            <a:r>
              <a:rPr lang="en-US" dirty="0">
                <a:solidFill>
                  <a:schemeClr val="bg1"/>
                </a:solidFill>
                <a:latin typeface="Arial" panose="020B0604020202020204" pitchFamily="34" charset="0"/>
                <a:ea typeface="Calibri" panose="020F0502020204030204"/>
                <a:cs typeface="Arial" panose="020B0604020202020204" pitchFamily="34" charset="0"/>
              </a:rPr>
              <a:t>Concatenates the results into a combined time series CSV</a:t>
            </a:r>
          </a:p>
          <a:p>
            <a:pPr lvl="1"/>
            <a:endParaRPr lang="en-US" dirty="0">
              <a:solidFill>
                <a:schemeClr val="bg1"/>
              </a:solidFill>
              <a:latin typeface="Arial" panose="020B0604020202020204" pitchFamily="34" charset="0"/>
              <a:ea typeface="Calibri" panose="020F0502020204030204"/>
              <a:cs typeface="Arial" panose="020B0604020202020204" pitchFamily="34" charset="0"/>
            </a:endParaRPr>
          </a:p>
          <a:p>
            <a:pPr marL="285750" indent="-285750">
              <a:buFont typeface="Arial" panose="020B0604020202020204" pitchFamily="34" charset="0"/>
              <a:buChar char="•"/>
            </a:pPr>
            <a:r>
              <a:rPr lang="en-US" dirty="0" err="1">
                <a:solidFill>
                  <a:schemeClr val="bg1"/>
                </a:solidFill>
                <a:latin typeface="Arial" panose="020B0604020202020204" pitchFamily="34" charset="0"/>
                <a:ea typeface="Calibri" panose="020F0502020204030204"/>
                <a:cs typeface="Arial" panose="020B0604020202020204" pitchFamily="34" charset="0"/>
              </a:rPr>
              <a:t>Assign_velocities_to_slips</a:t>
            </a:r>
            <a:endParaRPr lang="en-US" dirty="0">
              <a:solidFill>
                <a:schemeClr val="bg1"/>
              </a:solidFill>
              <a:latin typeface="Arial" panose="020B0604020202020204" pitchFamily="34" charset="0"/>
              <a:ea typeface="Calibri" panose="020F0502020204030204"/>
              <a:cs typeface="Arial" panose="020B0604020202020204" pitchFamily="34" charset="0"/>
            </a:endParaRPr>
          </a:p>
          <a:p>
            <a:pPr marL="742950" lvl="1" indent="-285750">
              <a:buFont typeface="Arial" panose="020B0604020202020204" pitchFamily="34" charset="0"/>
              <a:buChar char="•"/>
            </a:pPr>
            <a:r>
              <a:rPr lang="en-US" dirty="0">
                <a:solidFill>
                  <a:schemeClr val="bg1"/>
                </a:solidFill>
                <a:latin typeface="Arial" panose="020B0604020202020204" pitchFamily="34" charset="0"/>
                <a:ea typeface="Calibri" panose="020F0502020204030204"/>
                <a:cs typeface="Arial" panose="020B0604020202020204" pitchFamily="34" charset="0"/>
              </a:rPr>
              <a:t>For each slip event take the median daily velocity of past 30 days </a:t>
            </a:r>
          </a:p>
          <a:p>
            <a:pPr marL="742950" lvl="1" indent="-285750">
              <a:buFont typeface="Arial" panose="020B0604020202020204" pitchFamily="34" charset="0"/>
              <a:buChar char="•"/>
            </a:pPr>
            <a:r>
              <a:rPr lang="en-US" dirty="0">
                <a:solidFill>
                  <a:schemeClr val="bg1"/>
                </a:solidFill>
                <a:latin typeface="Arial" panose="020B0604020202020204" pitchFamily="34" charset="0"/>
                <a:ea typeface="Calibri" panose="020F0502020204030204"/>
                <a:cs typeface="Arial" panose="020B0604020202020204" pitchFamily="34" charset="0"/>
              </a:rPr>
              <a:t>Need at least 5 valid daily estimates </a:t>
            </a:r>
          </a:p>
          <a:p>
            <a:pPr marL="742950" lvl="1" indent="-285750">
              <a:buFont typeface="Arial" panose="020B0604020202020204" pitchFamily="34" charset="0"/>
              <a:buChar char="•"/>
            </a:pPr>
            <a:r>
              <a:rPr lang="en-US" dirty="0">
                <a:solidFill>
                  <a:schemeClr val="bg1"/>
                </a:solidFill>
                <a:latin typeface="Arial" panose="020B0604020202020204" pitchFamily="34" charset="0"/>
                <a:ea typeface="Calibri" panose="020F0502020204030204"/>
                <a:cs typeface="Arial" panose="020B0604020202020204" pitchFamily="34" charset="0"/>
              </a:rPr>
              <a:t>Outputs a table where every slip event gets a pre-event velocity from each station </a:t>
            </a:r>
          </a:p>
        </p:txBody>
      </p:sp>
    </p:spTree>
    <p:extLst>
      <p:ext uri="{BB962C8B-B14F-4D97-AF65-F5344CB8AC3E}">
        <p14:creationId xmlns:p14="http://schemas.microsoft.com/office/powerpoint/2010/main" val="3915552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8BA44-9A31-82D9-1C0E-1E5415FB5D1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2DB14AF-91DC-F001-8165-6A638DA522E4}"/>
              </a:ext>
            </a:extLst>
          </p:cNvPr>
          <p:cNvSpPr>
            <a:spLocks noGrp="1"/>
          </p:cNvSpPr>
          <p:nvPr>
            <p:ph type="body" idx="1"/>
          </p:nvPr>
        </p:nvSpPr>
        <p:spPr>
          <a:xfrm>
            <a:off x="831851" y="1263409"/>
            <a:ext cx="10515600" cy="4826244"/>
          </a:xfrm>
        </p:spPr>
        <p:txBody>
          <a:bodyPr>
            <a:normAutofit/>
          </a:bodyPr>
          <a:lstStyle/>
          <a:p>
            <a:r>
              <a:rPr lang="en-US" dirty="0"/>
              <a:t> </a:t>
            </a:r>
          </a:p>
        </p:txBody>
      </p:sp>
      <p:pic>
        <p:nvPicPr>
          <p:cNvPr id="5" name="Picture 4">
            <a:extLst>
              <a:ext uri="{FF2B5EF4-FFF2-40B4-BE49-F238E27FC236}">
                <a16:creationId xmlns:a16="http://schemas.microsoft.com/office/drawing/2014/main" id="{80B39F10-2198-C830-9B75-23E9AA4278E7}"/>
              </a:ext>
            </a:extLst>
          </p:cNvPr>
          <p:cNvPicPr>
            <a:picLocks noChangeAspect="1"/>
          </p:cNvPicPr>
          <p:nvPr/>
        </p:nvPicPr>
        <p:blipFill>
          <a:blip r:embed="rId3"/>
          <a:stretch>
            <a:fillRect/>
          </a:stretch>
        </p:blipFill>
        <p:spPr>
          <a:xfrm>
            <a:off x="1221426" y="376928"/>
            <a:ext cx="9895629" cy="5376751"/>
          </a:xfrm>
          <a:prstGeom prst="rect">
            <a:avLst/>
          </a:prstGeom>
        </p:spPr>
      </p:pic>
      <p:sp>
        <p:nvSpPr>
          <p:cNvPr id="7" name="Title 6">
            <a:extLst>
              <a:ext uri="{FF2B5EF4-FFF2-40B4-BE49-F238E27FC236}">
                <a16:creationId xmlns:a16="http://schemas.microsoft.com/office/drawing/2014/main" id="{98B6D967-8D9F-7482-A255-BC51CE5B3AC7}"/>
              </a:ext>
            </a:extLst>
          </p:cNvPr>
          <p:cNvSpPr>
            <a:spLocks noGrp="1"/>
          </p:cNvSpPr>
          <p:nvPr>
            <p:ph type="title"/>
          </p:nvPr>
        </p:nvSpPr>
        <p:spPr/>
        <p:txBody>
          <a:bodyPr/>
          <a:lstStyle/>
          <a:p>
            <a:r>
              <a:rPr lang="en-US" dirty="0"/>
              <a:t> </a:t>
            </a:r>
          </a:p>
        </p:txBody>
      </p:sp>
    </p:spTree>
    <p:extLst>
      <p:ext uri="{BB962C8B-B14F-4D97-AF65-F5344CB8AC3E}">
        <p14:creationId xmlns:p14="http://schemas.microsoft.com/office/powerpoint/2010/main" val="2259316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FDB2E-D4C9-F44C-03EA-F68C638FEC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392118-8A58-67A3-EE27-D05371CB87E8}"/>
              </a:ext>
            </a:extLst>
          </p:cNvPr>
          <p:cNvSpPr>
            <a:spLocks noGrp="1"/>
          </p:cNvSpPr>
          <p:nvPr>
            <p:ph type="title"/>
          </p:nvPr>
        </p:nvSpPr>
        <p:spPr>
          <a:xfrm>
            <a:off x="450058" y="472281"/>
            <a:ext cx="3932237" cy="1600200"/>
          </a:xfrm>
        </p:spPr>
        <p:txBody>
          <a:bodyPr anchor="b">
            <a:normAutofit/>
          </a:bodyPr>
          <a:lstStyle/>
          <a:p>
            <a:r>
              <a:rPr lang="en-US" dirty="0"/>
              <a:t> </a:t>
            </a:r>
          </a:p>
        </p:txBody>
      </p:sp>
      <p:pic>
        <p:nvPicPr>
          <p:cNvPr id="5" name="Picture 4">
            <a:extLst>
              <a:ext uri="{FF2B5EF4-FFF2-40B4-BE49-F238E27FC236}">
                <a16:creationId xmlns:a16="http://schemas.microsoft.com/office/drawing/2014/main" id="{3E2D4CDE-5E85-A07B-317F-DB56EFD36427}"/>
              </a:ext>
            </a:extLst>
          </p:cNvPr>
          <p:cNvPicPr>
            <a:picLocks noChangeAspect="1"/>
          </p:cNvPicPr>
          <p:nvPr/>
        </p:nvPicPr>
        <p:blipFill>
          <a:blip r:embed="rId3"/>
          <a:stretch>
            <a:fillRect/>
          </a:stretch>
        </p:blipFill>
        <p:spPr>
          <a:xfrm>
            <a:off x="5275741" y="2"/>
            <a:ext cx="6823708" cy="6857999"/>
          </a:xfrm>
          <a:prstGeom prst="rect">
            <a:avLst/>
          </a:prstGeom>
          <a:noFill/>
        </p:spPr>
      </p:pic>
      <p:sp>
        <p:nvSpPr>
          <p:cNvPr id="3" name="Text Placeholder 2">
            <a:extLst>
              <a:ext uri="{FF2B5EF4-FFF2-40B4-BE49-F238E27FC236}">
                <a16:creationId xmlns:a16="http://schemas.microsoft.com/office/drawing/2014/main" id="{A5BD736C-D35D-F513-AA9D-42B46105A5F0}"/>
              </a:ext>
            </a:extLst>
          </p:cNvPr>
          <p:cNvSpPr>
            <a:spLocks noGrp="1"/>
          </p:cNvSpPr>
          <p:nvPr>
            <p:ph type="body" sz="half" idx="2"/>
          </p:nvPr>
        </p:nvSpPr>
        <p:spPr>
          <a:xfrm>
            <a:off x="519860" y="857935"/>
            <a:ext cx="3932237" cy="3811588"/>
          </a:xfrm>
        </p:spPr>
        <p:txBody>
          <a:bodyPr>
            <a:noAutofit/>
          </a:bodyPr>
          <a:lstStyle/>
          <a:p>
            <a:pPr marL="285750" indent="-285750">
              <a:buFont typeface="Arial" panose="020B0604020202020204" pitchFamily="34" charset="0"/>
              <a:buChar char="•"/>
            </a:pPr>
            <a:r>
              <a:rPr lang="en-US" sz="1800" dirty="0"/>
              <a:t>STD in m/yr </a:t>
            </a:r>
          </a:p>
          <a:p>
            <a:pPr marL="0" indent="0">
              <a:buNone/>
            </a:pPr>
            <a:endParaRPr lang="en-US" sz="1800" dirty="0"/>
          </a:p>
          <a:p>
            <a:pPr marL="285750" indent="-285750">
              <a:buFont typeface="Arial" panose="020B0604020202020204" pitchFamily="34" charset="0"/>
              <a:buChar char="•"/>
            </a:pPr>
            <a:r>
              <a:rPr lang="en-US" sz="1800" dirty="0"/>
              <a:t>Panel A’s STD of ~70 makes it difficult to see long-term velocity changes </a:t>
            </a:r>
          </a:p>
          <a:p>
            <a:pPr marL="0" indent="0">
              <a:buNone/>
            </a:pPr>
            <a:endParaRPr lang="en-US" sz="1800" dirty="0"/>
          </a:p>
          <a:p>
            <a:pPr marL="285750" indent="-285750">
              <a:buFont typeface="Arial" panose="020B0604020202020204" pitchFamily="34" charset="0"/>
              <a:buChar char="•"/>
            </a:pPr>
            <a:r>
              <a:rPr lang="en-US" sz="1800" dirty="0"/>
              <a:t>Daily median cuts the STD in half roughly, and the rolling median cuts it almost in half again </a:t>
            </a:r>
          </a:p>
          <a:p>
            <a:pPr marL="0" indent="0">
              <a:buNone/>
            </a:pPr>
            <a:endParaRPr lang="en-US" sz="1800" dirty="0"/>
          </a:p>
          <a:p>
            <a:pPr marL="285750" indent="-285750">
              <a:buFont typeface="Arial" panose="020B0604020202020204" pitchFamily="34" charset="0"/>
              <a:buChar char="•"/>
            </a:pPr>
            <a:r>
              <a:rPr lang="en-US" sz="1800" dirty="0"/>
              <a:t>Median was chosen over mean because it’s more robust to outliers </a:t>
            </a:r>
          </a:p>
        </p:txBody>
      </p:sp>
    </p:spTree>
    <p:extLst>
      <p:ext uri="{BB962C8B-B14F-4D97-AF65-F5344CB8AC3E}">
        <p14:creationId xmlns:p14="http://schemas.microsoft.com/office/powerpoint/2010/main" val="399741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523EA-00F0-C8B3-E752-95E2752D30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D645DD-3381-98D9-3F31-67AB31F4CDB6}"/>
              </a:ext>
            </a:extLst>
          </p:cNvPr>
          <p:cNvSpPr>
            <a:spLocks noGrp="1"/>
          </p:cNvSpPr>
          <p:nvPr>
            <p:ph type="title"/>
          </p:nvPr>
        </p:nvSpPr>
        <p:spPr>
          <a:xfrm>
            <a:off x="636332" y="-66199"/>
            <a:ext cx="10789039" cy="842056"/>
          </a:xfrm>
        </p:spPr>
        <p:txBody>
          <a:bodyPr/>
          <a:lstStyle/>
          <a:p>
            <a:pPr algn="ctr"/>
            <a:r>
              <a:rPr lang="en-US" dirty="0"/>
              <a:t> </a:t>
            </a:r>
          </a:p>
        </p:txBody>
      </p:sp>
      <p:sp>
        <p:nvSpPr>
          <p:cNvPr id="3" name="Text Placeholder 2">
            <a:extLst>
              <a:ext uri="{FF2B5EF4-FFF2-40B4-BE49-F238E27FC236}">
                <a16:creationId xmlns:a16="http://schemas.microsoft.com/office/drawing/2014/main" id="{A55B261B-2675-53C8-0B21-0C9D29859052}"/>
              </a:ext>
            </a:extLst>
          </p:cNvPr>
          <p:cNvSpPr>
            <a:spLocks noGrp="1"/>
          </p:cNvSpPr>
          <p:nvPr>
            <p:ph type="body" idx="1"/>
          </p:nvPr>
        </p:nvSpPr>
        <p:spPr>
          <a:xfrm>
            <a:off x="831851" y="1263409"/>
            <a:ext cx="10515600" cy="4826244"/>
          </a:xfrm>
        </p:spPr>
        <p:txBody>
          <a:bodyPr>
            <a:normAutofit/>
          </a:bodyPr>
          <a:lstStyle/>
          <a:p>
            <a:r>
              <a:rPr lang="en-US" dirty="0"/>
              <a:t> </a:t>
            </a:r>
          </a:p>
        </p:txBody>
      </p:sp>
      <p:pic>
        <p:nvPicPr>
          <p:cNvPr id="5" name="Picture 4">
            <a:extLst>
              <a:ext uri="{FF2B5EF4-FFF2-40B4-BE49-F238E27FC236}">
                <a16:creationId xmlns:a16="http://schemas.microsoft.com/office/drawing/2014/main" id="{C98048BC-5624-03B7-A755-39B1678087AC}"/>
              </a:ext>
            </a:extLst>
          </p:cNvPr>
          <p:cNvPicPr>
            <a:picLocks noChangeAspect="1"/>
          </p:cNvPicPr>
          <p:nvPr/>
        </p:nvPicPr>
        <p:blipFill>
          <a:blip r:embed="rId3"/>
          <a:stretch>
            <a:fillRect/>
          </a:stretch>
        </p:blipFill>
        <p:spPr>
          <a:xfrm>
            <a:off x="416804" y="723886"/>
            <a:ext cx="11475050" cy="4870705"/>
          </a:xfrm>
          <a:prstGeom prst="rect">
            <a:avLst/>
          </a:prstGeom>
        </p:spPr>
      </p:pic>
    </p:spTree>
    <p:extLst>
      <p:ext uri="{BB962C8B-B14F-4D97-AF65-F5344CB8AC3E}">
        <p14:creationId xmlns:p14="http://schemas.microsoft.com/office/powerpoint/2010/main" val="1127110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9E2FA-EEC4-5F81-1618-755A9624D5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D41AAC-004B-29F4-E50E-8E2253B31E9A}"/>
              </a:ext>
            </a:extLst>
          </p:cNvPr>
          <p:cNvSpPr>
            <a:spLocks noGrp="1"/>
          </p:cNvSpPr>
          <p:nvPr>
            <p:ph type="title"/>
          </p:nvPr>
        </p:nvSpPr>
        <p:spPr>
          <a:xfrm>
            <a:off x="636332" y="-66199"/>
            <a:ext cx="10789039" cy="842056"/>
          </a:xfrm>
        </p:spPr>
        <p:txBody>
          <a:bodyPr/>
          <a:lstStyle/>
          <a:p>
            <a:pPr algn="ctr"/>
            <a:r>
              <a:rPr lang="en-US" dirty="0"/>
              <a:t> </a:t>
            </a:r>
          </a:p>
        </p:txBody>
      </p:sp>
      <p:sp>
        <p:nvSpPr>
          <p:cNvPr id="3" name="Text Placeholder 2">
            <a:extLst>
              <a:ext uri="{FF2B5EF4-FFF2-40B4-BE49-F238E27FC236}">
                <a16:creationId xmlns:a16="http://schemas.microsoft.com/office/drawing/2014/main" id="{D05EE2D9-3CA9-9935-7FA5-6C8385AD6B98}"/>
              </a:ext>
            </a:extLst>
          </p:cNvPr>
          <p:cNvSpPr>
            <a:spLocks noGrp="1"/>
          </p:cNvSpPr>
          <p:nvPr>
            <p:ph type="body" idx="1"/>
          </p:nvPr>
        </p:nvSpPr>
        <p:spPr>
          <a:xfrm>
            <a:off x="831851" y="1263409"/>
            <a:ext cx="10515600" cy="4826244"/>
          </a:xfrm>
        </p:spPr>
        <p:txBody>
          <a:bodyPr>
            <a:normAutofit/>
          </a:bodyPr>
          <a:lstStyle/>
          <a:p>
            <a:r>
              <a:rPr lang="en-US" dirty="0"/>
              <a:t> </a:t>
            </a:r>
          </a:p>
        </p:txBody>
      </p:sp>
      <p:pic>
        <p:nvPicPr>
          <p:cNvPr id="5" name="Picture 4">
            <a:extLst>
              <a:ext uri="{FF2B5EF4-FFF2-40B4-BE49-F238E27FC236}">
                <a16:creationId xmlns:a16="http://schemas.microsoft.com/office/drawing/2014/main" id="{D01F786E-D324-59F5-BC02-841D96D2BFFC}"/>
              </a:ext>
            </a:extLst>
          </p:cNvPr>
          <p:cNvPicPr>
            <a:picLocks noChangeAspect="1"/>
          </p:cNvPicPr>
          <p:nvPr/>
        </p:nvPicPr>
        <p:blipFill>
          <a:blip r:embed="rId3"/>
          <a:stretch>
            <a:fillRect/>
          </a:stretch>
        </p:blipFill>
        <p:spPr>
          <a:xfrm>
            <a:off x="766629" y="645891"/>
            <a:ext cx="10718923" cy="4948700"/>
          </a:xfrm>
          <a:prstGeom prst="rect">
            <a:avLst/>
          </a:prstGeom>
        </p:spPr>
      </p:pic>
    </p:spTree>
    <p:extLst>
      <p:ext uri="{BB962C8B-B14F-4D97-AF65-F5344CB8AC3E}">
        <p14:creationId xmlns:p14="http://schemas.microsoft.com/office/powerpoint/2010/main" val="2970796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9EA45-84AD-E1C8-D385-8B049AD610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7722CB-A808-6E40-CFF3-C4F6602A3263}"/>
              </a:ext>
            </a:extLst>
          </p:cNvPr>
          <p:cNvSpPr>
            <a:spLocks noGrp="1"/>
          </p:cNvSpPr>
          <p:nvPr>
            <p:ph type="title"/>
          </p:nvPr>
        </p:nvSpPr>
        <p:spPr>
          <a:xfrm>
            <a:off x="558412" y="0"/>
            <a:ext cx="10789039" cy="842056"/>
          </a:xfrm>
        </p:spPr>
        <p:txBody>
          <a:bodyPr/>
          <a:lstStyle/>
          <a:p>
            <a:pPr algn="ctr"/>
            <a:r>
              <a:rPr lang="en-US" dirty="0"/>
              <a:t> </a:t>
            </a:r>
          </a:p>
        </p:txBody>
      </p:sp>
      <p:sp>
        <p:nvSpPr>
          <p:cNvPr id="3" name="Text Placeholder 2">
            <a:extLst>
              <a:ext uri="{FF2B5EF4-FFF2-40B4-BE49-F238E27FC236}">
                <a16:creationId xmlns:a16="http://schemas.microsoft.com/office/drawing/2014/main" id="{5D45694D-6959-11C4-8C6D-E7E98E75A22E}"/>
              </a:ext>
            </a:extLst>
          </p:cNvPr>
          <p:cNvSpPr>
            <a:spLocks noGrp="1"/>
          </p:cNvSpPr>
          <p:nvPr>
            <p:ph type="body" idx="1"/>
          </p:nvPr>
        </p:nvSpPr>
        <p:spPr>
          <a:xfrm>
            <a:off x="831851" y="1263409"/>
            <a:ext cx="10515600" cy="4826244"/>
          </a:xfrm>
        </p:spPr>
        <p:txBody>
          <a:bodyPr>
            <a:normAutofit/>
          </a:bodyPr>
          <a:lstStyle/>
          <a:p>
            <a:r>
              <a:rPr lang="en-US" dirty="0"/>
              <a:t> </a:t>
            </a:r>
          </a:p>
        </p:txBody>
      </p:sp>
      <p:pic>
        <p:nvPicPr>
          <p:cNvPr id="5" name="Picture 4">
            <a:extLst>
              <a:ext uri="{FF2B5EF4-FFF2-40B4-BE49-F238E27FC236}">
                <a16:creationId xmlns:a16="http://schemas.microsoft.com/office/drawing/2014/main" id="{6CF4B665-4960-D249-843D-B8EB021DBE87}"/>
              </a:ext>
            </a:extLst>
          </p:cNvPr>
          <p:cNvPicPr>
            <a:picLocks noChangeAspect="1"/>
          </p:cNvPicPr>
          <p:nvPr/>
        </p:nvPicPr>
        <p:blipFill>
          <a:blip r:embed="rId3"/>
          <a:stretch>
            <a:fillRect/>
          </a:stretch>
        </p:blipFill>
        <p:spPr>
          <a:xfrm>
            <a:off x="332934" y="949300"/>
            <a:ext cx="11663622" cy="4440695"/>
          </a:xfrm>
          <a:prstGeom prst="rect">
            <a:avLst/>
          </a:prstGeom>
        </p:spPr>
      </p:pic>
    </p:spTree>
    <p:extLst>
      <p:ext uri="{BB962C8B-B14F-4D97-AF65-F5344CB8AC3E}">
        <p14:creationId xmlns:p14="http://schemas.microsoft.com/office/powerpoint/2010/main" val="4241533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29705-DC0E-D715-6EC6-35252AD410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CEFC48-6302-33B5-A5EE-F95FA67E95A3}"/>
              </a:ext>
            </a:extLst>
          </p:cNvPr>
          <p:cNvSpPr>
            <a:spLocks noGrp="1"/>
          </p:cNvSpPr>
          <p:nvPr>
            <p:ph type="title"/>
          </p:nvPr>
        </p:nvSpPr>
        <p:spPr>
          <a:xfrm>
            <a:off x="636332" y="-66199"/>
            <a:ext cx="10789039" cy="842056"/>
          </a:xfrm>
        </p:spPr>
        <p:txBody>
          <a:bodyPr/>
          <a:lstStyle/>
          <a:p>
            <a:pPr algn="ctr"/>
            <a:r>
              <a:rPr lang="en-US" dirty="0"/>
              <a:t>Limitations</a:t>
            </a:r>
          </a:p>
        </p:txBody>
      </p:sp>
      <p:sp>
        <p:nvSpPr>
          <p:cNvPr id="3" name="Text Placeholder 2">
            <a:extLst>
              <a:ext uri="{FF2B5EF4-FFF2-40B4-BE49-F238E27FC236}">
                <a16:creationId xmlns:a16="http://schemas.microsoft.com/office/drawing/2014/main" id="{D4A85A9F-0F51-2211-65D9-C7C5E0C1C5E3}"/>
              </a:ext>
            </a:extLst>
          </p:cNvPr>
          <p:cNvSpPr>
            <a:spLocks noGrp="1"/>
          </p:cNvSpPr>
          <p:nvPr>
            <p:ph type="body" idx="1"/>
          </p:nvPr>
        </p:nvSpPr>
        <p:spPr>
          <a:xfrm>
            <a:off x="831851" y="1263409"/>
            <a:ext cx="10515600" cy="4826244"/>
          </a:xfrm>
        </p:spPr>
        <p:txBody>
          <a:bodyPr>
            <a:normAutofit/>
          </a:bodyPr>
          <a:lstStyle/>
          <a:p>
            <a:r>
              <a:rPr lang="en-US" dirty="0"/>
              <a:t> </a:t>
            </a:r>
          </a:p>
        </p:txBody>
      </p:sp>
      <p:sp>
        <p:nvSpPr>
          <p:cNvPr id="5" name="TextBox 4">
            <a:extLst>
              <a:ext uri="{FF2B5EF4-FFF2-40B4-BE49-F238E27FC236}">
                <a16:creationId xmlns:a16="http://schemas.microsoft.com/office/drawing/2014/main" id="{2FBC50EE-0204-0458-02AB-773332909CF6}"/>
              </a:ext>
            </a:extLst>
          </p:cNvPr>
          <p:cNvSpPr txBox="1"/>
          <p:nvPr/>
        </p:nvSpPr>
        <p:spPr>
          <a:xfrm>
            <a:off x="411544" y="1431659"/>
            <a:ext cx="5136507" cy="3970318"/>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ea typeface="Calibri" panose="020F0502020204030204"/>
                <a:cs typeface="Calibri" panose="020F0502020204030204"/>
              </a:rPr>
              <a:t>Uneven station coverage across the time frame:</a:t>
            </a:r>
          </a:p>
          <a:p>
            <a:pPr marL="742950" lvl="1" indent="-285750">
              <a:buFont typeface="Arial" panose="020B0604020202020204" pitchFamily="34" charset="0"/>
              <a:buChar char="•"/>
            </a:pPr>
            <a:r>
              <a:rPr lang="en-US" dirty="0">
                <a:solidFill>
                  <a:schemeClr val="bg1"/>
                </a:solidFill>
                <a:ea typeface="Calibri" panose="020F0502020204030204"/>
                <a:cs typeface="Calibri" panose="020F0502020204030204"/>
              </a:rPr>
              <a:t>The </a:t>
            </a:r>
            <a:r>
              <a:rPr lang="en-US" dirty="0" err="1">
                <a:solidFill>
                  <a:schemeClr val="bg1"/>
                </a:solidFill>
                <a:ea typeface="Calibri" panose="020F0502020204030204"/>
                <a:cs typeface="Calibri" panose="020F0502020204030204"/>
              </a:rPr>
              <a:t>gz</a:t>
            </a:r>
            <a:r>
              <a:rPr lang="en-US" dirty="0">
                <a:solidFill>
                  <a:schemeClr val="bg1"/>
                </a:solidFill>
                <a:ea typeface="Calibri" panose="020F0502020204030204"/>
                <a:cs typeface="Calibri" panose="020F0502020204030204"/>
              </a:rPr>
              <a:t>-stations were only active between 2011-2014</a:t>
            </a:r>
          </a:p>
          <a:p>
            <a:pPr lvl="1"/>
            <a:endParaRPr lang="en-US" dirty="0">
              <a:solidFill>
                <a:schemeClr val="bg1"/>
              </a:solidFill>
              <a:ea typeface="Calibri" panose="020F0502020204030204"/>
              <a:cs typeface="Calibri" panose="020F0502020204030204"/>
            </a:endParaRPr>
          </a:p>
          <a:p>
            <a:pPr marL="285750" indent="-285750">
              <a:buFont typeface="Arial" panose="020B0604020202020204" pitchFamily="34" charset="0"/>
              <a:buChar char="•"/>
            </a:pPr>
            <a:r>
              <a:rPr lang="en-US" dirty="0">
                <a:solidFill>
                  <a:schemeClr val="bg1"/>
                </a:solidFill>
                <a:ea typeface="Calibri" panose="020F0502020204030204"/>
                <a:cs typeface="Calibri" panose="020F0502020204030204"/>
              </a:rPr>
              <a:t>30-day smoothing window may mask some shorter velocity changes that may have meaningful signal </a:t>
            </a:r>
          </a:p>
          <a:p>
            <a:endParaRPr lang="en-US" dirty="0">
              <a:solidFill>
                <a:schemeClr val="bg1"/>
              </a:solidFill>
              <a:ea typeface="Calibri" panose="020F0502020204030204"/>
              <a:cs typeface="Calibri" panose="020F0502020204030204"/>
            </a:endParaRPr>
          </a:p>
          <a:p>
            <a:pPr marL="285750" indent="-285750">
              <a:buFont typeface="Arial" panose="020B0604020202020204" pitchFamily="34" charset="0"/>
              <a:buChar char="•"/>
            </a:pPr>
            <a:r>
              <a:rPr lang="en-US" dirty="0">
                <a:solidFill>
                  <a:schemeClr val="bg1"/>
                </a:solidFill>
                <a:ea typeface="Calibri" panose="020F0502020204030204"/>
                <a:cs typeface="Calibri" panose="020F0502020204030204"/>
              </a:rPr>
              <a:t>There are gaps present in the data set from the velocity cleaning </a:t>
            </a:r>
          </a:p>
          <a:p>
            <a:endParaRPr lang="en-US" dirty="0">
              <a:solidFill>
                <a:schemeClr val="bg1"/>
              </a:solidFill>
              <a:ea typeface="Calibri" panose="020F0502020204030204"/>
              <a:cs typeface="Calibri" panose="020F0502020204030204"/>
            </a:endParaRPr>
          </a:p>
          <a:p>
            <a:pPr marL="285750" indent="-285750">
              <a:buFont typeface="Arial" panose="020B0604020202020204" pitchFamily="34" charset="0"/>
              <a:buChar char="•"/>
            </a:pPr>
            <a:r>
              <a:rPr lang="en-US" dirty="0">
                <a:solidFill>
                  <a:schemeClr val="bg1"/>
                </a:solidFill>
                <a:ea typeface="Calibri" panose="020F0502020204030204"/>
                <a:cs typeface="Calibri" panose="020F0502020204030204"/>
              </a:rPr>
              <a:t>Pre-slip-event velocity is only assigned if there are more than 5 daily estimates are present in the 30-day window before each event </a:t>
            </a:r>
          </a:p>
        </p:txBody>
      </p:sp>
      <p:pic>
        <p:nvPicPr>
          <p:cNvPr id="7" name="Picture 6">
            <a:extLst>
              <a:ext uri="{FF2B5EF4-FFF2-40B4-BE49-F238E27FC236}">
                <a16:creationId xmlns:a16="http://schemas.microsoft.com/office/drawing/2014/main" id="{D48BD342-1CBA-D537-F658-92C3C360B781}"/>
              </a:ext>
            </a:extLst>
          </p:cNvPr>
          <p:cNvPicPr>
            <a:picLocks noChangeAspect="1"/>
          </p:cNvPicPr>
          <p:nvPr/>
        </p:nvPicPr>
        <p:blipFill>
          <a:blip r:embed="rId3"/>
          <a:stretch>
            <a:fillRect/>
          </a:stretch>
        </p:blipFill>
        <p:spPr>
          <a:xfrm>
            <a:off x="6252993" y="1263409"/>
            <a:ext cx="5479068" cy="4434289"/>
          </a:xfrm>
          <a:prstGeom prst="rect">
            <a:avLst/>
          </a:prstGeom>
        </p:spPr>
      </p:pic>
    </p:spTree>
    <p:extLst>
      <p:ext uri="{BB962C8B-B14F-4D97-AF65-F5344CB8AC3E}">
        <p14:creationId xmlns:p14="http://schemas.microsoft.com/office/powerpoint/2010/main" val="2762803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27F41-A6A3-E0E4-AF22-09C3DDFCE2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C96313-C4D5-8855-10D2-D4E4F4DD93A3}"/>
              </a:ext>
            </a:extLst>
          </p:cNvPr>
          <p:cNvSpPr>
            <a:spLocks noGrp="1"/>
          </p:cNvSpPr>
          <p:nvPr>
            <p:ph type="title"/>
          </p:nvPr>
        </p:nvSpPr>
        <p:spPr>
          <a:xfrm>
            <a:off x="636332" y="-66199"/>
            <a:ext cx="10789039" cy="842056"/>
          </a:xfrm>
        </p:spPr>
        <p:txBody>
          <a:bodyPr/>
          <a:lstStyle/>
          <a:p>
            <a:pPr algn="ctr"/>
            <a:r>
              <a:rPr lang="en-US" dirty="0"/>
              <a:t>Findings &amp; Significance</a:t>
            </a:r>
          </a:p>
        </p:txBody>
      </p:sp>
      <p:sp>
        <p:nvSpPr>
          <p:cNvPr id="3" name="Text Placeholder 2">
            <a:extLst>
              <a:ext uri="{FF2B5EF4-FFF2-40B4-BE49-F238E27FC236}">
                <a16:creationId xmlns:a16="http://schemas.microsoft.com/office/drawing/2014/main" id="{5C2B4A89-9DEE-2DE0-D1D2-85242B28E5A4}"/>
              </a:ext>
            </a:extLst>
          </p:cNvPr>
          <p:cNvSpPr>
            <a:spLocks noGrp="1"/>
          </p:cNvSpPr>
          <p:nvPr>
            <p:ph type="body" idx="1"/>
          </p:nvPr>
        </p:nvSpPr>
        <p:spPr>
          <a:xfrm>
            <a:off x="831851" y="1263409"/>
            <a:ext cx="10515600" cy="4826244"/>
          </a:xfrm>
        </p:spPr>
        <p:txBody>
          <a:bodyPr>
            <a:normAutofit/>
          </a:bodyPr>
          <a:lstStyle/>
          <a:p>
            <a:r>
              <a:rPr lang="en-US" dirty="0"/>
              <a:t> </a:t>
            </a:r>
          </a:p>
        </p:txBody>
      </p:sp>
      <p:sp>
        <p:nvSpPr>
          <p:cNvPr id="5" name="TextBox 4">
            <a:extLst>
              <a:ext uri="{FF2B5EF4-FFF2-40B4-BE49-F238E27FC236}">
                <a16:creationId xmlns:a16="http://schemas.microsoft.com/office/drawing/2014/main" id="{A892A147-186E-A405-6C36-6C97D871B795}"/>
              </a:ext>
            </a:extLst>
          </p:cNvPr>
          <p:cNvSpPr txBox="1"/>
          <p:nvPr/>
        </p:nvSpPr>
        <p:spPr>
          <a:xfrm>
            <a:off x="636332" y="1547157"/>
            <a:ext cx="4164719" cy="3477875"/>
          </a:xfrm>
          <a:prstGeom prst="rect">
            <a:avLst/>
          </a:prstGeom>
          <a:noFill/>
        </p:spPr>
        <p:txBody>
          <a:bodyPr wrap="square">
            <a:spAutoFit/>
          </a:bodyPr>
          <a:lstStyle/>
          <a:p>
            <a:r>
              <a:rPr lang="en-US" sz="2000" b="1" dirty="0">
                <a:solidFill>
                  <a:schemeClr val="bg1"/>
                </a:solidFill>
                <a:latin typeface="Arial" panose="020B0604020202020204" pitchFamily="34" charset="0"/>
                <a:cs typeface="Arial" panose="020B0604020202020204" pitchFamily="34" charset="0"/>
              </a:rPr>
              <a:t>Spatial and Temporal Velocity Change:</a:t>
            </a:r>
            <a:endParaRPr lang="en-US" sz="2000" dirty="0">
              <a:solidFill>
                <a:schemeClr val="bg1"/>
              </a:solidFill>
              <a:latin typeface="Arial" panose="020B0604020202020204" pitchFamily="34" charset="0"/>
              <a:cs typeface="Arial" panose="020B0604020202020204" pitchFamily="34" charset="0"/>
            </a:endParaRPr>
          </a:p>
          <a:p>
            <a:r>
              <a:rPr lang="en-US" sz="2000" dirty="0">
                <a:solidFill>
                  <a:schemeClr val="bg1"/>
                </a:solidFill>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n-US" sz="2000" dirty="0">
                <a:solidFill>
                  <a:schemeClr val="bg1"/>
                </a:solidFill>
                <a:latin typeface="Arial" panose="020B0604020202020204" pitchFamily="34" charset="0"/>
                <a:cs typeface="Arial" panose="020B0604020202020204" pitchFamily="34" charset="0"/>
              </a:rPr>
              <a:t>Velocity ranges from ~200-400 m/yr based on features </a:t>
            </a:r>
          </a:p>
          <a:p>
            <a:pPr marL="742950" lvl="1" indent="-285750">
              <a:buFont typeface="Arial" panose="020B0604020202020204" pitchFamily="34" charset="0"/>
              <a:buChar char="•"/>
            </a:pPr>
            <a:r>
              <a:rPr lang="en-US" sz="2000" dirty="0">
                <a:solidFill>
                  <a:schemeClr val="bg1"/>
                </a:solidFill>
                <a:latin typeface="Arial" panose="020B0604020202020204" pitchFamily="34" charset="0"/>
                <a:cs typeface="Arial" panose="020B0604020202020204" pitchFamily="34" charset="0"/>
              </a:rPr>
              <a:t>Grounding zone </a:t>
            </a:r>
          </a:p>
          <a:p>
            <a:pPr marL="742950" lvl="1" indent="-285750">
              <a:buFont typeface="Arial" panose="020B0604020202020204" pitchFamily="34" charset="0"/>
              <a:buChar char="•"/>
            </a:pPr>
            <a:r>
              <a:rPr lang="en-US" sz="2000" dirty="0">
                <a:solidFill>
                  <a:schemeClr val="bg1"/>
                </a:solidFill>
                <a:latin typeface="Arial" panose="020B0604020202020204" pitchFamily="34" charset="0"/>
                <a:cs typeface="Arial" panose="020B0604020202020204" pitchFamily="34" charset="0"/>
              </a:rPr>
              <a:t>Grounded ice </a:t>
            </a:r>
          </a:p>
          <a:p>
            <a:pPr marL="742950" lvl="1" indent="-285750">
              <a:buFont typeface="Arial" panose="020B0604020202020204" pitchFamily="34" charset="0"/>
              <a:buChar char="•"/>
            </a:pPr>
            <a:r>
              <a:rPr lang="en-US" sz="2000" dirty="0">
                <a:solidFill>
                  <a:schemeClr val="bg1"/>
                </a:solidFill>
                <a:latin typeface="Arial" panose="020B0604020202020204" pitchFamily="34" charset="0"/>
                <a:cs typeface="Arial" panose="020B0604020202020204" pitchFamily="34" charset="0"/>
              </a:rPr>
              <a:t>Floating ice </a:t>
            </a:r>
          </a:p>
          <a:p>
            <a:pPr marL="285750" indent="-285750">
              <a:buFont typeface="Arial" panose="020B0604020202020204" pitchFamily="34" charset="0"/>
              <a:buChar char="•"/>
            </a:pPr>
            <a:endParaRPr lang="en-US" sz="2000" dirty="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000" dirty="0">
                <a:solidFill>
                  <a:schemeClr val="bg1"/>
                </a:solidFill>
                <a:latin typeface="Arial" panose="020B0604020202020204" pitchFamily="34" charset="0"/>
                <a:cs typeface="Arial" panose="020B0604020202020204" pitchFamily="34" charset="0"/>
              </a:rPr>
              <a:t>The whole ice plain experiences deceleration overtime </a:t>
            </a:r>
          </a:p>
        </p:txBody>
      </p:sp>
      <p:sp>
        <p:nvSpPr>
          <p:cNvPr id="7" name="TextBox 6">
            <a:extLst>
              <a:ext uri="{FF2B5EF4-FFF2-40B4-BE49-F238E27FC236}">
                <a16:creationId xmlns:a16="http://schemas.microsoft.com/office/drawing/2014/main" id="{E210E144-9607-2F66-F314-6A789FE60E31}"/>
              </a:ext>
            </a:extLst>
          </p:cNvPr>
          <p:cNvSpPr txBox="1"/>
          <p:nvPr/>
        </p:nvSpPr>
        <p:spPr>
          <a:xfrm>
            <a:off x="6976813" y="1445322"/>
            <a:ext cx="4106530" cy="4093428"/>
          </a:xfrm>
          <a:prstGeom prst="rect">
            <a:avLst/>
          </a:prstGeom>
          <a:noFill/>
        </p:spPr>
        <p:txBody>
          <a:bodyPr wrap="square">
            <a:spAutoFit/>
          </a:bodyPr>
          <a:lstStyle/>
          <a:p>
            <a:r>
              <a:rPr lang="en-US" sz="2000" b="1" dirty="0">
                <a:solidFill>
                  <a:schemeClr val="bg1"/>
                </a:solidFill>
                <a:latin typeface="Arial" panose="020B0604020202020204" pitchFamily="34" charset="0"/>
                <a:cs typeface="Arial" panose="020B0604020202020204" pitchFamily="34" charset="0"/>
              </a:rPr>
              <a:t>Velocity and Slip-Timing Relationship: </a:t>
            </a:r>
          </a:p>
          <a:p>
            <a:endParaRPr lang="en-US" sz="2000" b="1" dirty="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000" dirty="0">
                <a:solidFill>
                  <a:schemeClr val="bg1"/>
                </a:solidFill>
                <a:latin typeface="Arial" panose="020B0604020202020204" pitchFamily="34" charset="0"/>
                <a:cs typeface="Arial" panose="020B0604020202020204" pitchFamily="34" charset="0"/>
              </a:rPr>
              <a:t>Mean velocity and time-to-next-slip are inversely related </a:t>
            </a:r>
          </a:p>
          <a:p>
            <a:pPr marL="742950" lvl="1" indent="-285750">
              <a:buFont typeface="Arial" panose="020B0604020202020204" pitchFamily="34" charset="0"/>
              <a:buChar char="•"/>
            </a:pPr>
            <a:r>
              <a:rPr lang="en-US" sz="2000" dirty="0">
                <a:solidFill>
                  <a:schemeClr val="bg1"/>
                </a:solidFill>
                <a:latin typeface="Arial" panose="020B0604020202020204" pitchFamily="34" charset="0"/>
                <a:cs typeface="Arial" panose="020B0604020202020204" pitchFamily="34" charset="0"/>
              </a:rPr>
              <a:t>Higher velocity corresponds to shorter time between events </a:t>
            </a:r>
          </a:p>
          <a:p>
            <a:pPr lvl="1"/>
            <a:endParaRPr lang="en-US" sz="2000" dirty="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000" dirty="0">
                <a:solidFill>
                  <a:schemeClr val="bg1"/>
                </a:solidFill>
                <a:latin typeface="Arial" panose="020B0604020202020204" pitchFamily="34" charset="0"/>
                <a:cs typeface="Arial" panose="020B0604020202020204" pitchFamily="34" charset="0"/>
              </a:rPr>
              <a:t>Longer event intervals are becoming more common towards the event of the decade because of the deceleration </a:t>
            </a:r>
          </a:p>
        </p:txBody>
      </p:sp>
    </p:spTree>
    <p:extLst>
      <p:ext uri="{BB962C8B-B14F-4D97-AF65-F5344CB8AC3E}">
        <p14:creationId xmlns:p14="http://schemas.microsoft.com/office/powerpoint/2010/main" val="9255853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1D0A2-9BAF-E89E-CB1E-E57E3D2CBE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692F55-B777-C0BD-51A5-DD47525476E8}"/>
              </a:ext>
            </a:extLst>
          </p:cNvPr>
          <p:cNvSpPr>
            <a:spLocks noGrp="1"/>
          </p:cNvSpPr>
          <p:nvPr>
            <p:ph type="title"/>
          </p:nvPr>
        </p:nvSpPr>
        <p:spPr>
          <a:xfrm>
            <a:off x="831851" y="0"/>
            <a:ext cx="10789039" cy="842056"/>
          </a:xfrm>
        </p:spPr>
        <p:txBody>
          <a:bodyPr/>
          <a:lstStyle/>
          <a:p>
            <a:pPr algn="ctr"/>
            <a:r>
              <a:rPr lang="en-US" dirty="0"/>
              <a:t>Future Work &amp; Acknowledgements</a:t>
            </a:r>
          </a:p>
        </p:txBody>
      </p:sp>
      <p:sp>
        <p:nvSpPr>
          <p:cNvPr id="3" name="Text Placeholder 2">
            <a:extLst>
              <a:ext uri="{FF2B5EF4-FFF2-40B4-BE49-F238E27FC236}">
                <a16:creationId xmlns:a16="http://schemas.microsoft.com/office/drawing/2014/main" id="{89AED75D-9545-16A5-5AEC-E22554073511}"/>
              </a:ext>
            </a:extLst>
          </p:cNvPr>
          <p:cNvSpPr>
            <a:spLocks noGrp="1"/>
          </p:cNvSpPr>
          <p:nvPr>
            <p:ph type="body" idx="1"/>
          </p:nvPr>
        </p:nvSpPr>
        <p:spPr>
          <a:xfrm>
            <a:off x="831851" y="1263409"/>
            <a:ext cx="10515600" cy="4826244"/>
          </a:xfrm>
        </p:spPr>
        <p:txBody>
          <a:bodyPr>
            <a:normAutofit/>
          </a:bodyPr>
          <a:lstStyle/>
          <a:p>
            <a:r>
              <a:rPr lang="en-US" dirty="0"/>
              <a:t> </a:t>
            </a:r>
          </a:p>
        </p:txBody>
      </p:sp>
      <p:sp>
        <p:nvSpPr>
          <p:cNvPr id="5" name="TextBox 4">
            <a:extLst>
              <a:ext uri="{FF2B5EF4-FFF2-40B4-BE49-F238E27FC236}">
                <a16:creationId xmlns:a16="http://schemas.microsoft.com/office/drawing/2014/main" id="{E85D0AD1-C58B-551B-6F69-06D942344262}"/>
              </a:ext>
            </a:extLst>
          </p:cNvPr>
          <p:cNvSpPr txBox="1"/>
          <p:nvPr/>
        </p:nvSpPr>
        <p:spPr>
          <a:xfrm>
            <a:off x="640817" y="942847"/>
            <a:ext cx="11171105" cy="2862322"/>
          </a:xfrm>
          <a:prstGeom prst="rect">
            <a:avLst/>
          </a:prstGeom>
          <a:noFill/>
        </p:spPr>
        <p:txBody>
          <a:bodyPr wrap="square">
            <a:spAutoFit/>
          </a:bodyPr>
          <a:lstStyle/>
          <a:p>
            <a:r>
              <a:rPr lang="en-US" sz="1800" dirty="0">
                <a:solidFill>
                  <a:schemeClr val="bg1"/>
                </a:solidFill>
                <a:latin typeface="Arial" panose="020B0604020202020204" pitchFamily="34" charset="0"/>
                <a:cs typeface="Arial" panose="020B0604020202020204" pitchFamily="34" charset="0"/>
              </a:rPr>
              <a:t>Future Work: </a:t>
            </a:r>
          </a:p>
          <a:p>
            <a:pPr marL="285750" indent="-285750">
              <a:buFont typeface="Arial" panose="020B0604020202020204" pitchFamily="34" charset="0"/>
              <a:buChar char="•"/>
            </a:pPr>
            <a:r>
              <a:rPr lang="en-US" dirty="0">
                <a:solidFill>
                  <a:schemeClr val="bg1"/>
                </a:solidFill>
                <a:latin typeface="Arial" panose="020B0604020202020204" pitchFamily="34" charset="0"/>
                <a:cs typeface="Arial" panose="020B0604020202020204" pitchFamily="34" charset="0"/>
              </a:rPr>
              <a:t>What is driving the deceleration trend, for example, looking into subglacial hydrology</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Exploring whether pre-event velocity is a statistically significan</a:t>
            </a:r>
            <a:r>
              <a:rPr lang="en-US" dirty="0">
                <a:solidFill>
                  <a:schemeClr val="bg1"/>
                </a:solidFill>
                <a:latin typeface="Arial" panose="020B0604020202020204" pitchFamily="34" charset="0"/>
                <a:cs typeface="Arial" panose="020B0604020202020204" pitchFamily="34" charset="0"/>
              </a:rPr>
              <a:t>t predictor of slip event characteristics (such as size, duration, or time between events) </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Use velocity as a feature in machine learning models for predicting</a:t>
            </a:r>
            <a:r>
              <a:rPr lang="en-US" dirty="0">
                <a:solidFill>
                  <a:schemeClr val="bg1"/>
                </a:solidFill>
                <a:latin typeface="Arial" panose="020B0604020202020204" pitchFamily="34" charset="0"/>
                <a:cs typeface="Arial" panose="020B0604020202020204" pitchFamily="34" charset="0"/>
              </a:rPr>
              <a:t> time-to-next-slip events </a:t>
            </a:r>
          </a:p>
          <a:p>
            <a:endParaRPr lang="en-US" sz="1800" dirty="0">
              <a:solidFill>
                <a:schemeClr val="bg1"/>
              </a:solidFill>
              <a:latin typeface="Arial" panose="020B0604020202020204" pitchFamily="34" charset="0"/>
              <a:cs typeface="Arial" panose="020B0604020202020204" pitchFamily="34" charset="0"/>
            </a:endParaRPr>
          </a:p>
          <a:p>
            <a:r>
              <a:rPr lang="en-US" dirty="0">
                <a:solidFill>
                  <a:schemeClr val="bg1"/>
                </a:solidFill>
                <a:latin typeface="Arial" panose="020B0604020202020204" pitchFamily="34" charset="0"/>
                <a:cs typeface="Arial" panose="020B0604020202020204" pitchFamily="34" charset="0"/>
              </a:rPr>
              <a:t>Acknowledgements:</a:t>
            </a:r>
          </a:p>
          <a:p>
            <a:pPr marL="285750" indent="-285750">
              <a:buFont typeface="Arial" panose="020B0604020202020204" pitchFamily="34" charset="0"/>
              <a:buChar char="•"/>
            </a:pPr>
            <a:r>
              <a:rPr lang="en-US" dirty="0">
                <a:solidFill>
                  <a:schemeClr val="bg1"/>
                </a:solidFill>
                <a:latin typeface="Arial" panose="020B0604020202020204" pitchFamily="34" charset="0"/>
                <a:cs typeface="Arial" panose="020B0604020202020204" pitchFamily="34" charset="0"/>
              </a:rPr>
              <a:t>Stick-slip catalog from Zachary Katz and Sam Brown </a:t>
            </a:r>
          </a:p>
          <a:p>
            <a:pPr marL="285750" indent="-285750">
              <a:buFont typeface="Arial" panose="020B0604020202020204" pitchFamily="34" charset="0"/>
              <a:buChar char="•"/>
            </a:pPr>
            <a:r>
              <a:rPr lang="en-US" dirty="0">
                <a:solidFill>
                  <a:schemeClr val="bg1"/>
                </a:solidFill>
                <a:latin typeface="Arial" panose="020B0604020202020204" pitchFamily="34" charset="0"/>
                <a:cs typeface="Arial" panose="020B0604020202020204" pitchFamily="34" charset="0"/>
              </a:rPr>
              <a:t>PPP files pulled from Katz et al. 2026</a:t>
            </a:r>
          </a:p>
          <a:p>
            <a:pPr marL="285750" indent="-285750">
              <a:buFont typeface="Arial" panose="020B0604020202020204" pitchFamily="34" charset="0"/>
              <a:buChar char="•"/>
            </a:pPr>
            <a:r>
              <a:rPr lang="en-US" dirty="0">
                <a:solidFill>
                  <a:schemeClr val="bg1"/>
                </a:solidFill>
                <a:latin typeface="Arial" panose="020B0604020202020204" pitchFamily="34" charset="0"/>
                <a:cs typeface="Arial" panose="020B0604020202020204" pitchFamily="34" charset="0"/>
              </a:rPr>
              <a:t>Dr. Matt Siegfired and Zachary Katz provided intuition for what trends should be seen in the velocity data </a:t>
            </a:r>
          </a:p>
        </p:txBody>
      </p:sp>
      <p:pic>
        <p:nvPicPr>
          <p:cNvPr id="1026" name="Picture 2" descr="Matthew Siegfried">
            <a:extLst>
              <a:ext uri="{FF2B5EF4-FFF2-40B4-BE49-F238E27FC236}">
                <a16:creationId xmlns:a16="http://schemas.microsoft.com/office/drawing/2014/main" id="{238C51C5-46CD-E7DB-7C09-F0B576F874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6419" y="3916694"/>
            <a:ext cx="2167129" cy="216712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4EF4F56F-B624-FBD8-0D7D-55CA2535B4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38454" y="3916693"/>
            <a:ext cx="2167129" cy="2167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70536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7561</TotalTime>
  <Words>990</Words>
  <Application>Microsoft Office PowerPoint</Application>
  <PresentationFormat>Widescreen</PresentationFormat>
  <Paragraphs>148</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Whillans Ice Sheet Velocity</vt:lpstr>
      <vt:lpstr>Introduction</vt:lpstr>
      <vt:lpstr>Research Questions</vt:lpstr>
      <vt:lpstr>Dataset &amp; Challenges</vt:lpstr>
      <vt:lpstr>Overall Methods </vt:lpstr>
      <vt:lpstr> </vt:lpstr>
      <vt:lpstr> </vt:lpstr>
      <vt:lpstr> </vt:lpstr>
      <vt:lpstr> </vt:lpstr>
      <vt:lpstr> </vt:lpstr>
      <vt:lpstr>Limitations</vt:lpstr>
      <vt:lpstr>Findings &amp; Significance</vt:lpstr>
      <vt:lpstr>Future Work &amp; Acknowledgements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Microsoft Office User</dc:creator>
  <cp:keywords/>
  <dc:description/>
  <cp:lastModifiedBy>Kaitlyn Sanchez</cp:lastModifiedBy>
  <cp:revision>70</cp:revision>
  <dcterms:created xsi:type="dcterms:W3CDTF">2017-08-01T15:06:47Z</dcterms:created>
  <dcterms:modified xsi:type="dcterms:W3CDTF">2026-05-01T18:36:34Z</dcterms:modified>
  <cp:category/>
</cp:coreProperties>
</file>